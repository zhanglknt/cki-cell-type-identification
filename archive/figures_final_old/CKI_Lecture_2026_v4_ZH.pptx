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8" r:id="rId29"/>
    <p:sldId id="258" r:id="rId4"/>
    <p:sldId id="259" r:id="rId5"/>
    <p:sldId id="260" r:id="rId6"/>
    <p:sldId id="261" r:id="rId7"/>
    <p:sldId id="276" r:id="rId27"/>
    <p:sldId id="277" r:id="rId28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Relationship Id="rId9" Type="http://schemas.openxmlformats.org/officeDocument/2006/relationships/image" Target="../media/image15.png"/><Relationship Id="rId10" Type="http://schemas.openxmlformats.org/officeDocument/2006/relationships/image" Target="../media/image18.png"/><Relationship Id="rId11" Type="http://schemas.openxmlformats.org/officeDocument/2006/relationships/image" Target="../media/image22.png"/><Relationship Id="rId12" Type="http://schemas.openxmlformats.org/officeDocument/2006/relationships/image" Target="../media/image25.png"/><Relationship Id="rId13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CKI: 细胞状态动力学指数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受分子演化启发的转录组学指标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Zhang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中国医学科学院输血研究所</a:t>
            </a:r>
            <a:endParaRPr lang="en-US" sz="10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北京脑科学与类脑研究所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2026年5月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什么定义了细胞的"身份"？</a:t>
            </a:r>
          </a:p>
        </p:txBody>
      </p:sp>
      <p:sp>
        <p:nvSpPr>
          <p:cNvPr id="3" name="Oval 2"/>
          <p:cNvSpPr/>
          <p:nvPr/>
        </p:nvSpPr>
        <p:spPr>
          <a:xfrm>
            <a:off x="1005840" y="1005840"/>
            <a:ext cx="594360" cy="59436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神经元</a:t>
            </a:r>
          </a:p>
        </p:txBody>
      </p:sp>
      <p:sp>
        <p:nvSpPr>
          <p:cNvPr id="4" name="Oval 3"/>
          <p:cNvSpPr/>
          <p:nvPr/>
        </p:nvSpPr>
        <p:spPr>
          <a:xfrm>
            <a:off x="2377440" y="137160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T细胞</a:t>
            </a:r>
          </a:p>
        </p:txBody>
      </p:sp>
      <p:sp>
        <p:nvSpPr>
          <p:cNvPr id="5" name="Oval 4"/>
          <p:cNvSpPr/>
          <p:nvPr/>
        </p:nvSpPr>
        <p:spPr>
          <a:xfrm>
            <a:off x="1737360" y="219456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B细胞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60320"/>
            <a:ext cx="685800" cy="6858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巨噬细胞</a:t>
            </a:r>
          </a:p>
        </p:txBody>
      </p:sp>
      <p:sp>
        <p:nvSpPr>
          <p:cNvPr id="7" name="Oval 6"/>
          <p:cNvSpPr/>
          <p:nvPr/>
        </p:nvSpPr>
        <p:spPr>
          <a:xfrm>
            <a:off x="2651760" y="27432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成纤维细胞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</a:rPr>
              <a:t>同一组织，
不同的身份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7772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D8"/>
                </a:solidFill>
              </a:rPr>
              <a:t>单细胞组学革命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scRNA-seq 揭示巨大的细胞异质性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数百万细胞，跨越数百种细胞类型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每种细胞类型都有独特的基因表达程序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知识空白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这些身份是如何产生的？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哪些细胞类型是真正"分化"的？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差异中多少是功能性的，多少是噪音？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能否在连续尺度上量化"细胞性"？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细胞如何在器官间迁移？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 0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同一细胞类型，不同功能状态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4748B"/>
                </a:solidFill>
              </a:rPr>
              <a:t>CKI 捕获细胞类型内的状态特异性变化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22960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9488"/>
                </a:solidFill>
              </a:rPr>
              <a:t>关键洞察：CKI 的 HK 基因集（检出率 + CV）自动覆盖细胞类型内的所有状态，为量化功能分化为提供稳定基线。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现有方法的能力与局限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931670" cy="274320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101727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931670" cy="640080"/>
          </a:xfrm>
          <a:prstGeom prst="rect">
            <a:avLst>
              <a:gd name="adj" fmla="val 571429"/>
            </a:avLst>
          </a:prstGeom>
          <a:solidFill>
            <a:srgbClr val="EFF6FF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8" name="Text 6"/>
          <p:cNvSpPr/>
          <p:nvPr/>
        </p:nvSpPr>
        <p:spPr>
          <a:xfrm>
            <a:off x="612648" y="1005840"/>
            <a:ext cx="1712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差异表达</a:t>
            </a:r>
            <a:endParaRPr lang="en-US" sz="12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1565910" cy="731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Shape 8"/>
          <p:cNvSpPr/>
          <p:nvPr/>
        </p:nvSpPr>
        <p:spPr>
          <a:xfrm>
            <a:off x="777240" y="178308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73736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找到组间标志基因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514600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4" name="Text 12"/>
          <p:cNvSpPr/>
          <p:nvPr/>
        </p:nvSpPr>
        <p:spPr>
          <a:xfrm>
            <a:off x="77724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46888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无法量化差异的幅度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3520440"/>
            <a:ext cx="1017270" cy="274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Shape 15"/>
          <p:cNvSpPr/>
          <p:nvPr/>
        </p:nvSpPr>
        <p:spPr>
          <a:xfrm>
            <a:off x="2571750" y="960120"/>
            <a:ext cx="1931670" cy="274320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8" name="Shape 16"/>
          <p:cNvSpPr/>
          <p:nvPr/>
        </p:nvSpPr>
        <p:spPr>
          <a:xfrm>
            <a:off x="3486150" y="960120"/>
            <a:ext cx="101727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9" name="Shape 17"/>
          <p:cNvSpPr/>
          <p:nvPr/>
        </p:nvSpPr>
        <p:spPr>
          <a:xfrm>
            <a:off x="2571750" y="960120"/>
            <a:ext cx="1931670" cy="640080"/>
          </a:xfrm>
          <a:prstGeom prst="rect">
            <a:avLst>
              <a:gd name="adj" fmla="val 571429"/>
            </a:avLst>
          </a:prstGeom>
          <a:solidFill>
            <a:srgbClr val="F0FDFA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0" name="Text 18"/>
          <p:cNvSpPr/>
          <p:nvPr/>
        </p:nvSpPr>
        <p:spPr>
          <a:xfrm>
            <a:off x="2681478" y="1005840"/>
            <a:ext cx="1712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通路</a:t>
            </a:r>
            <a:endParaRPr lang="en-US" sz="12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富集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54630" y="1645920"/>
            <a:ext cx="1565910" cy="731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Shape 20"/>
          <p:cNvSpPr/>
          <p:nvPr/>
        </p:nvSpPr>
        <p:spPr>
          <a:xfrm>
            <a:off x="2846070" y="178308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Text 21"/>
          <p:cNvSpPr/>
          <p:nvPr/>
        </p:nvSpPr>
        <p:spPr>
          <a:xfrm>
            <a:off x="284607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20390" y="173736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将基因与生物功能关联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46070" y="2514600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6" name="Text 24"/>
          <p:cNvSpPr/>
          <p:nvPr/>
        </p:nvSpPr>
        <p:spPr>
          <a:xfrm>
            <a:off x="284607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20390" y="246888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无法区分噪音与信号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28950" y="3520440"/>
            <a:ext cx="101727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9" name="Shape 27"/>
          <p:cNvSpPr/>
          <p:nvPr/>
        </p:nvSpPr>
        <p:spPr>
          <a:xfrm>
            <a:off x="4640580" y="960120"/>
            <a:ext cx="1931670" cy="274320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0" name="Shape 28"/>
          <p:cNvSpPr/>
          <p:nvPr/>
        </p:nvSpPr>
        <p:spPr>
          <a:xfrm>
            <a:off x="5554980" y="960120"/>
            <a:ext cx="101727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Shape 29"/>
          <p:cNvSpPr/>
          <p:nvPr/>
        </p:nvSpPr>
        <p:spPr>
          <a:xfrm>
            <a:off x="4640580" y="960120"/>
            <a:ext cx="1931670" cy="640080"/>
          </a:xfrm>
          <a:prstGeom prst="rect">
            <a:avLst>
              <a:gd name="adj" fmla="val 571429"/>
            </a:avLst>
          </a:prstGeom>
          <a:solidFill>
            <a:srgbClr val="FFFB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2" name="Text 30"/>
          <p:cNvSpPr/>
          <p:nvPr/>
        </p:nvSpPr>
        <p:spPr>
          <a:xfrm>
            <a:off x="4750308" y="1005840"/>
            <a:ext cx="1712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拟时序</a:t>
            </a:r>
            <a:endParaRPr lang="en-US" sz="12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轨迹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23460" y="1645920"/>
            <a:ext cx="1565910" cy="731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4" name="Shape 32"/>
          <p:cNvSpPr/>
          <p:nvPr/>
        </p:nvSpPr>
        <p:spPr>
          <a:xfrm>
            <a:off x="4914900" y="178308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5" name="Text 33"/>
          <p:cNvSpPr/>
          <p:nvPr/>
        </p:nvSpPr>
        <p:spPr>
          <a:xfrm>
            <a:off x="491490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89220" y="173736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沿发育路径排序细胞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14900" y="2514600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8" name="Text 36"/>
          <p:cNvSpPr/>
          <p:nvPr/>
        </p:nvSpPr>
        <p:spPr>
          <a:xfrm>
            <a:off x="491490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89220" y="246888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假设连续进展；无幅度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97780" y="3520440"/>
            <a:ext cx="101727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1" name="Shape 39"/>
          <p:cNvSpPr/>
          <p:nvPr/>
        </p:nvSpPr>
        <p:spPr>
          <a:xfrm>
            <a:off x="6709410" y="960120"/>
            <a:ext cx="1931670" cy="274320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2" name="Shape 40"/>
          <p:cNvSpPr/>
          <p:nvPr/>
        </p:nvSpPr>
        <p:spPr>
          <a:xfrm>
            <a:off x="7623810" y="960120"/>
            <a:ext cx="101727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3" name="Shape 41"/>
          <p:cNvSpPr/>
          <p:nvPr/>
        </p:nvSpPr>
        <p:spPr>
          <a:xfrm>
            <a:off x="6709410" y="960120"/>
            <a:ext cx="1931670" cy="640080"/>
          </a:xfrm>
          <a:prstGeom prst="rect">
            <a:avLst>
              <a:gd name="adj" fmla="val 571429"/>
            </a:avLst>
          </a:prstGeom>
          <a:solidFill>
            <a:srgbClr val="FEF2F2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4" name="Text 42"/>
          <p:cNvSpPr/>
          <p:nvPr/>
        </p:nvSpPr>
        <p:spPr>
          <a:xfrm>
            <a:off x="6819138" y="1005840"/>
            <a:ext cx="1712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聚类与</a:t>
            </a:r>
            <a:endParaRPr lang="en-US" sz="12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注释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92290" y="1645920"/>
            <a:ext cx="1565910" cy="731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6" name="Shape 44"/>
          <p:cNvSpPr/>
          <p:nvPr/>
        </p:nvSpPr>
        <p:spPr>
          <a:xfrm>
            <a:off x="6983730" y="178308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7" name="Text 45"/>
          <p:cNvSpPr/>
          <p:nvPr/>
        </p:nvSpPr>
        <p:spPr>
          <a:xfrm>
            <a:off x="698373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58050" y="173736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将细胞分为离散类型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83730" y="2514600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50" name="Text 48"/>
          <p:cNvSpPr/>
          <p:nvPr/>
        </p:nvSpPr>
        <p:spPr>
          <a:xfrm>
            <a:off x="698373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58050" y="246888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二元分类；忽略梯度差异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66610" y="3520440"/>
            <a:ext cx="1017270" cy="274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53" name="Shape 51"/>
          <p:cNvSpPr/>
          <p:nvPr/>
        </p:nvSpPr>
        <p:spPr>
          <a:xfrm>
            <a:off x="502920" y="3840480"/>
            <a:ext cx="8138160" cy="411480"/>
          </a:xfrm>
          <a:prstGeom prst="rect">
            <a:avLst>
              <a:gd name="adj" fmla="val 888889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54" name="Text 52"/>
          <p:cNvSpPr/>
          <p:nvPr/>
        </p:nvSpPr>
        <p:spPr>
          <a:xfrm>
            <a:off x="640080" y="3840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共同缺口：现有方法无法在连续尺度上量化细胞状态分化——这正是CKI的核心创新</a:t>
            </a:r>
            <a:endParaRPr lang="en-US" sz="1100" dirty="0"/>
          </a:p>
        </p:txBody>
      </p:sp>
      <p:pic>
        <p:nvPicPr>
          <p:cNvPr id="55" name="Picture 54" descr="de_volc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20" y="3060120"/>
            <a:ext cx="1691670" cy="500000"/>
          </a:xfrm>
          <a:prstGeom prst="rect">
            <a:avLst/>
          </a:prstGeom>
        </p:spPr>
      </p:pic>
      <p:pic>
        <p:nvPicPr>
          <p:cNvPr id="56" name="Picture 55" descr="pathway_enr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750" y="3060120"/>
            <a:ext cx="1691670" cy="500000"/>
          </a:xfrm>
          <a:prstGeom prst="rect">
            <a:avLst/>
          </a:prstGeom>
        </p:spPr>
      </p:pic>
      <p:pic>
        <p:nvPicPr>
          <p:cNvPr id="57" name="Picture 56" descr="pseudotime_traj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580" y="3060120"/>
            <a:ext cx="1691670" cy="500000"/>
          </a:xfrm>
          <a:prstGeom prst="rect">
            <a:avLst/>
          </a:prstGeom>
        </p:spPr>
      </p:pic>
      <p:pic>
        <p:nvPicPr>
          <p:cNvPr id="58" name="Picture 57" descr="clustering_u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410" y="3060120"/>
            <a:ext cx="1691670" cy="5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灵感来源：Ka/Ks比值与分子演化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5" name="Image 0" descr="C:\Users\KnightZ\Desktop\细胞受选择\results\figures_final\slides_svg\01_kaks_ana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813816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840480"/>
            <a:ext cx="8138160" cy="457200"/>
          </a:xfrm>
          <a:prstGeom prst="rect">
            <a:avLst>
              <a:gd name="adj" fmla="val 800000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核心洞见：用“中性参照”来区分功能性选择与随机漂变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Ka/Ks &gt; 1 = 正选择   |   Ka/Ks = 1 = 中性漂变   |   Ka/Ks &lt; 1 = 净化选择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CKI：受Ka/Ks启发的转录组学指标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657600" cy="1737360"/>
          </a:xfrm>
          <a:prstGeom prst="rect">
            <a:avLst>
              <a:gd name="adj" fmla="val 210526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27432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分子演化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同义突变 (dS) = 中性参照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508760"/>
            <a:ext cx="73152" cy="731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非同义突变 (dN) = 功能信号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73152" cy="731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dN/dS比值量化选择压力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2240280"/>
            <a:ext cx="73152" cy="731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4" name="Text 12"/>
          <p:cNvSpPr/>
          <p:nvPr/>
        </p:nvSpPr>
        <p:spPr>
          <a:xfrm>
            <a:off x="4206240" y="1463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3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526280" y="960120"/>
            <a:ext cx="3657600" cy="1737360"/>
          </a:xfrm>
          <a:prstGeom prst="rect">
            <a:avLst>
              <a:gd name="adj" fmla="val 210526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Shape 14"/>
          <p:cNvSpPr/>
          <p:nvPr/>
        </p:nvSpPr>
        <p:spPr>
          <a:xfrm>
            <a:off x="5440680" y="96012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Text 15"/>
          <p:cNvSpPr/>
          <p:nvPr/>
        </p:nvSpPr>
        <p:spPr>
          <a:xfrm>
            <a:off x="466344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转录组学 (CKI)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持家基因 (k_n) = 中性参照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508760"/>
            <a:ext cx="73152" cy="731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0" name="Text 18"/>
          <p:cNvSpPr/>
          <p:nvPr/>
        </p:nvSpPr>
        <p:spPr>
          <a:xfrm>
            <a:off x="47091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身份基因 (k_f) = 功能分化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874520"/>
            <a:ext cx="73152" cy="731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Text 20"/>
          <p:cNvSpPr/>
          <p:nvPr/>
        </p:nvSpPr>
        <p:spPr>
          <a:xfrm>
            <a:off x="470916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k_f/k_n 量化细胞状态动力学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240280"/>
            <a:ext cx="73152" cy="731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4" name="Shape 22"/>
          <p:cNvSpPr/>
          <p:nvPr/>
        </p:nvSpPr>
        <p:spPr>
          <a:xfrm>
            <a:off x="1234440" y="2971800"/>
            <a:ext cx="6675120" cy="822960"/>
          </a:xfrm>
          <a:prstGeom prst="rect">
            <a:avLst>
              <a:gd name="adj" fmla="val 888889"/>
            </a:avLst>
          </a:prstGeom>
          <a:solidFill>
            <a:srgbClr val="0B1D3A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5" name="Text 23"/>
          <p:cNvSpPr/>
          <p:nvPr/>
        </p:nvSpPr>
        <p:spPr>
          <a:xfrm>
            <a:off x="1417320" y="3063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JS(身份基因) / JS(持家基因)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34290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= Jensen-Shannon散度，量化两个细胞群体间的表达分布差异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023360"/>
            <a:ext cx="8138160" cy="411480"/>
          </a:xfrm>
          <a:prstGeom prst="rect">
            <a:avLst>
              <a:gd name="adj" fmla="val 888889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&gt;&gt; 1: 功能分化超过中性预期   |   omega ~ 1: 差异仅为噪音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CKI：三步计算管线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pic>
        <p:nvPicPr>
          <p:cNvPr id="5" name="Image 0" descr="C:\Users\KnightZ\Desktop\细胞受选择\results\figures_final\slides_svg\02_cki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657600"/>
            <a:ext cx="2621280" cy="1188720"/>
          </a:xfrm>
          <a:prstGeom prst="rect">
            <a:avLst>
              <a:gd name="adj" fmla="val 30769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Shape 4"/>
          <p:cNvSpPr/>
          <p:nvPr/>
        </p:nvSpPr>
        <p:spPr>
          <a:xfrm>
            <a:off x="1417320" y="3657600"/>
            <a:ext cx="17068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8" name="Text 5"/>
          <p:cNvSpPr/>
          <p:nvPr/>
        </p:nvSpPr>
        <p:spPr>
          <a:xfrm>
            <a:off x="612648" y="3703320"/>
            <a:ext cx="2401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第一步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12648" y="3886200"/>
            <a:ext cx="240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持家基因筛选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" y="4160520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基于数据自动检测：检出率 &gt;90% 且 CV &lt; 30%分位数。适用于任意物种，无需外部参考集。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61360" y="3657600"/>
            <a:ext cx="2621280" cy="1188720"/>
          </a:xfrm>
          <a:prstGeom prst="rect">
            <a:avLst>
              <a:gd name="adj" fmla="val 30769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Shape 9"/>
          <p:cNvSpPr/>
          <p:nvPr/>
        </p:nvSpPr>
        <p:spPr>
          <a:xfrm>
            <a:off x="4175760" y="3657600"/>
            <a:ext cx="17068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Text 10"/>
          <p:cNvSpPr/>
          <p:nvPr/>
        </p:nvSpPr>
        <p:spPr>
          <a:xfrm>
            <a:off x="3371088" y="3703320"/>
            <a:ext cx="2401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第二步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71088" y="3886200"/>
            <a:ext cx="240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身份基因集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71088" y="4160520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2,000高变基因（HVG；Seurat v3），排除持家基因。捕获细胞特异性程序。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19800" y="3657600"/>
            <a:ext cx="2621280" cy="1188720"/>
          </a:xfrm>
          <a:prstGeom prst="rect">
            <a:avLst>
              <a:gd name="adj" fmla="val 30769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Shape 14"/>
          <p:cNvSpPr/>
          <p:nvPr/>
        </p:nvSpPr>
        <p:spPr>
          <a:xfrm>
            <a:off x="6934200" y="3657600"/>
            <a:ext cx="17068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8" name="Text 15"/>
          <p:cNvSpPr/>
          <p:nvPr/>
        </p:nvSpPr>
        <p:spPr>
          <a:xfrm>
            <a:off x="6129528" y="3703320"/>
            <a:ext cx="2401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第三步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29528" y="3886200"/>
            <a:ext cx="240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JS散度比值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29528" y="4160520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分别计算两套基因的JS散度。Bootstrap N=1,000次估算置信区间。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基因集自动鉴定</a:t>
            </a:r>
          </a:p>
          <a:p>
            <a:pPr algn="l"/>
            <a:r>
              <a:rPr sz="1200">
                <a:solidFill>
                  <a:srgbClr val="64748B"/>
                </a:solidFill>
              </a:rPr>
              <a:t>无需手动指定基因列表 — 完全数据驱动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l"/>
            <a:r>
              <a:rPr sz="1400" b="1">
                <a:solidFill>
                  <a:srgbClr val="FFFFFF"/>
                </a:solidFill>
              </a:rPr>
              <a:t>持家基因鉴定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819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4748B"/>
                </a:solidFill>
              </a:rPr>
              <a:t>稳定表达 · 低变异度 · 跨细胞类型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011679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59669"/>
                </a:solidFill>
              </a:rPr>
              <a:t>detection_rate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&gt;90% 细胞中检出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默认方法（对噪声稳健）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724911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79191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表达变异系数最低 30%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捕捉表达稳定性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438144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92424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C3AED"/>
                </a:solidFill>
              </a:rPr>
              <a:t>combined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93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同时满足以上两条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最高严格度（默认）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51376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05656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7706"/>
                </a:solidFill>
              </a:rPr>
              <a:t>HRT Atlas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0682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内置 16 种人组织参考集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与检出集取并集，确保完整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0600"/>
            <a:ext cx="3657600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1">
                <a:solidFill>
                  <a:srgbClr val="64748B"/>
                </a:solidFill>
              </a:rPr>
              <a:t>→ 全自动；默认：combined + HRT Atlas 参考集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097280"/>
            <a:ext cx="38404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097280"/>
            <a:ext cx="3840480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l"/>
            <a:r>
              <a:rPr sz="1400" b="1">
                <a:solidFill>
                  <a:srgbClr val="FFFFFF"/>
                </a:solidFill>
              </a:rPr>
              <a:t>功能 / 可变基因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15819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4748B"/>
                </a:solidFill>
              </a:rPr>
              <a:t>高变异 · 区分细胞类型</a:t>
            </a:r>
          </a:p>
        </p:txBody>
      </p:sp>
      <p:sp>
        <p:nvSpPr>
          <p:cNvPr id="22" name="Oval 21"/>
          <p:cNvSpPr/>
          <p:nvPr/>
        </p:nvSpPr>
        <p:spPr>
          <a:xfrm>
            <a:off x="4709160" y="2011679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965960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2626"/>
                </a:solidFill>
              </a:rPr>
              <a:t>hvg（默认）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16712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Scanpy 高变异基因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Top 2,000 · 排除持家基因
捕捉生物学变异</a:t>
            </a:r>
          </a:p>
        </p:txBody>
      </p:sp>
      <p:sp>
        <p:nvSpPr>
          <p:cNvPr id="25" name="Oval 24"/>
          <p:cNvSpPr/>
          <p:nvPr/>
        </p:nvSpPr>
        <p:spPr>
          <a:xfrm>
            <a:off x="4709160" y="2724911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2679191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markers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8803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逐 cluster 差异表达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每 cluster 取 top marker
已知 cluster 时的替代方案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800600"/>
            <a:ext cx="365760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1">
                <a:solidFill>
                  <a:srgbClr val="64748B"/>
                </a:solidFill>
              </a:rPr>
              <a:t>→ 自动鉴定；默认：hvg top 2,000（排除持家基因）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94960"/>
            <a:ext cx="822960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输入 (adata + species)  →  自动鉴定持家基因  →  自动鉴定功能基因  →  计算 CKI (Kn, Kf, ω)  —  cki.compute() 全自动完成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泛化到任意物种</a:t>
            </a:r>
          </a:p>
          <a:p>
            <a:pPr algn="l"/>
            <a:r>
              <a:rPr sz="1100">
                <a:solidFill>
                  <a:srgbClr val="64748B"/>
                </a:solidFill>
              </a:rPr>
              <a:t>CKI 与物种无关 — 基因集鉴定全部基于数据驱动，无需外部参考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4023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通用鉴定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45336"/>
            <a:ext cx="2414015" cy="2724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持家基因：detection_rate (&gt;90%) + CV（最低 30%）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功能基因：HVG top 2,000（排除持家基因）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适用于任何有 RNA-seq 数据的物种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无需外部基因列表或人工筛选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4261103"/>
            <a:ext cx="2450591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/>
          <a:lstStyle/>
          <a:p>
            <a:pPr algn="ctr"/>
            <a:r>
              <a:rPr sz="700" b="1">
                <a:solidFill>
                  <a:srgbClr val="64748B"/>
                </a:solidFill>
              </a:rPr>
              <a:t>compute(adata, species="任意物种")  →  全自动完成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5603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2560320" cy="4023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人/小鼠 加成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1545336"/>
            <a:ext cx="2414015" cy="2724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内置 HRT Atlas 参考集（16 组织，NAR 2021）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并集策略：鉴定结果 ∪ 参考集（use_reference=True）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人、小鼠自动获得参考集加持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其他物种：纯数据驱动，同样有效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0984" y="4261103"/>
            <a:ext cx="2450591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/>
          <a:lstStyle/>
          <a:p>
            <a:pPr algn="ctr"/>
            <a:r>
              <a:rPr sz="700" b="1">
                <a:solidFill>
                  <a:srgbClr val="64748B"/>
                </a:solidFill>
              </a:rPr>
              <a:t>compute(adata, species="human")  →  自动 + HRT Atlas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25603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2560320" cy="4023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自定义物种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1545336"/>
            <a:ext cx="2414015" cy="2724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最少输入：species="zebrafish" → 通用配置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无需特殊设置：species="任意名称" → 立即可用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高级：通过 reference_path 提供自定义参考集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完全适配任何生物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3" y="4261103"/>
            <a:ext cx="2450591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/>
          <a:lstStyle/>
          <a:p>
            <a:pPr algn="ctr"/>
            <a:r>
              <a:rPr sz="700" b="1">
                <a:solidFill>
                  <a:srgbClr val="64748B"/>
                </a:solidFill>
              </a:rPr>
              <a:t>compute(adata, species="你的物种")  →  出结果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compute(adata, species="任意物种", groupby="cell_type", group_a="X", group_b="Y")  →  全自动 CKI 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解读 omega：细胞类型的连续尺度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pic>
        <p:nvPicPr>
          <p:cNvPr id="5" name="Image 0" descr="C:\Users\KnightZ\Desktop\细胞受选择\results\figures_final\slides_svg\03_omega_sca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749040"/>
            <a:ext cx="1828800" cy="868680"/>
          </a:xfrm>
          <a:prstGeom prst="rect">
            <a:avLst>
              <a:gd name="adj" fmla="val 42105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Shape 4"/>
          <p:cNvSpPr/>
          <p:nvPr/>
        </p:nvSpPr>
        <p:spPr>
          <a:xfrm>
            <a:off x="1417320" y="3749040"/>
            <a:ext cx="9144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8" name="Text 5"/>
          <p:cNvSpPr/>
          <p:nvPr/>
        </p:nvSpPr>
        <p:spPr>
          <a:xfrm>
            <a:off x="612648" y="38404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~ 1.16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2648" y="41330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同细胞类型分裂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2648" y="4471416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0.11 (Tabula Muris)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468880" y="3749040"/>
            <a:ext cx="1828800" cy="868680"/>
          </a:xfrm>
          <a:prstGeom prst="rect">
            <a:avLst>
              <a:gd name="adj" fmla="val 42105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Shape 9"/>
          <p:cNvSpPr/>
          <p:nvPr/>
        </p:nvSpPr>
        <p:spPr>
          <a:xfrm>
            <a:off x="3383280" y="3749040"/>
            <a:ext cx="9144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Text 10"/>
          <p:cNvSpPr/>
          <p:nvPr/>
        </p:nvSpPr>
        <p:spPr>
          <a:xfrm>
            <a:off x="2578608" y="38404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~ 2.33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78608" y="41330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同类型，跨器官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78608" y="4471416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例如：T细胞跨器官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434840" y="3749040"/>
            <a:ext cx="1828800" cy="868680"/>
          </a:xfrm>
          <a:prstGeom prst="rect">
            <a:avLst>
              <a:gd name="adj" fmla="val 42105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Shape 14"/>
          <p:cNvSpPr/>
          <p:nvPr/>
        </p:nvSpPr>
        <p:spPr>
          <a:xfrm>
            <a:off x="5349240" y="3749040"/>
            <a:ext cx="9144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8" name="Text 15"/>
          <p:cNvSpPr/>
          <p:nvPr/>
        </p:nvSpPr>
        <p:spPr>
          <a:xfrm>
            <a:off x="4544568" y="38404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~ 5.71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44568" y="41330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不同类型，同器官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44568" y="4471416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例如：肺组织细胞类型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400800" y="3749040"/>
            <a:ext cx="1828800" cy="868680"/>
          </a:xfrm>
          <a:prstGeom prst="rect">
            <a:avLst>
              <a:gd name="adj" fmla="val 42105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Shape 19"/>
          <p:cNvSpPr/>
          <p:nvPr/>
        </p:nvSpPr>
        <p:spPr>
          <a:xfrm>
            <a:off x="7315200" y="3749040"/>
            <a:ext cx="9144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Text 20"/>
          <p:cNvSpPr/>
          <p:nvPr/>
        </p:nvSpPr>
        <p:spPr>
          <a:xfrm>
            <a:off x="6510528" y="38404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&gt;&gt; 10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10528" y="41330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肿瘤重编程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10528" y="4471416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例如：LIHC Grade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CKI一览：关键数字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1097280"/>
            <a:ext cx="16002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12648" y="118872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" y="148132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持家基因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191109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数据驱动检测：检出率 + CV过滤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1" name="Shape 9"/>
          <p:cNvSpPr/>
          <p:nvPr/>
        </p:nvSpPr>
        <p:spPr>
          <a:xfrm>
            <a:off x="4069080" y="1097280"/>
            <a:ext cx="1600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Text 10"/>
          <p:cNvSpPr/>
          <p:nvPr/>
        </p:nvSpPr>
        <p:spPr>
          <a:xfrm>
            <a:off x="3264408" y="118872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64408" y="148132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每对身份基因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91109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2,000 HVG（Seurat v3），排除HK基因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806440" y="109728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Shape 14"/>
          <p:cNvSpPr/>
          <p:nvPr/>
        </p:nvSpPr>
        <p:spPr>
          <a:xfrm>
            <a:off x="6720840" y="1097280"/>
            <a:ext cx="1600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Text 15"/>
          <p:cNvSpPr/>
          <p:nvPr/>
        </p:nvSpPr>
        <p:spPr>
          <a:xfrm>
            <a:off x="5916168" y="118872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16168" y="148132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 Muris细胞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16168" y="191109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6器官，32种细胞类型（鼠）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2920" y="233172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1" name="Shape 19"/>
          <p:cNvSpPr/>
          <p:nvPr/>
        </p:nvSpPr>
        <p:spPr>
          <a:xfrm>
            <a:off x="1417320" y="2331720"/>
            <a:ext cx="160020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Text 20"/>
          <p:cNvSpPr/>
          <p:nvPr/>
        </p:nvSpPr>
        <p:spPr>
          <a:xfrm>
            <a:off x="612648" y="24231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108,399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2648" y="271576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 Sapiens细胞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" y="314553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99种细胞类型，4,851对（人）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154680" y="233172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6" name="Shape 24"/>
          <p:cNvSpPr/>
          <p:nvPr/>
        </p:nvSpPr>
        <p:spPr>
          <a:xfrm>
            <a:off x="4069080" y="2331720"/>
            <a:ext cx="16002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7" name="Text 25"/>
          <p:cNvSpPr/>
          <p:nvPr/>
        </p:nvSpPr>
        <p:spPr>
          <a:xfrm>
            <a:off x="3264408" y="24231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10,535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64408" y="271576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TCGA样本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64408" y="314553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5种肿瘤，Paired N/T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806440" y="233172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Shape 29"/>
          <p:cNvSpPr/>
          <p:nvPr/>
        </p:nvSpPr>
        <p:spPr>
          <a:xfrm>
            <a:off x="6720840" y="2331720"/>
            <a:ext cx="1600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2" name="Text 30"/>
          <p:cNvSpPr/>
          <p:nvPr/>
        </p:nvSpPr>
        <p:spPr>
          <a:xfrm>
            <a:off x="5916168" y="24231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888,263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916168" y="271576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脑细胞核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16168" y="314553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108脑区，人脑图谱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02920" y="3520440"/>
            <a:ext cx="8138160" cy="502920"/>
          </a:xfrm>
          <a:prstGeom prst="rect">
            <a:avLst>
              <a:gd name="adj" fmla="val 72727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6" name="Shape 34"/>
          <p:cNvSpPr/>
          <p:nvPr/>
        </p:nvSpPr>
        <p:spPr>
          <a:xfrm>
            <a:off x="1417320" y="3520440"/>
            <a:ext cx="7223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7" name="Text 35"/>
          <p:cNvSpPr/>
          <p:nvPr/>
        </p:nvSpPr>
        <p:spPr>
          <a:xfrm>
            <a:off x="685800" y="3520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N = 1,000   |   P &lt; 0.05 (单尾)   |   Bonferroni校正多重比较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206240"/>
            <a:ext cx="8138160" cy="411480"/>
          </a:xfrm>
          <a:prstGeom prst="rect">
            <a:avLst>
              <a:gd name="adj" fmla="val 888889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9" name="Text 37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CKI可扩展：适用于任意一对有表达数据的细胞群体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校准验证：Tabula Muris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931920" cy="3108960"/>
          </a:xfrm>
          <a:prstGeom prst="rect">
            <a:avLst>
              <a:gd name="adj" fmla="val 117647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30175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同细胞类型分裂检验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如果CKI有效，同细胞类型比较应得到 omega ~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9736" y="1737360"/>
            <a:ext cx="18288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2103120" y="29443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125980"/>
            <a:ext cx="404622" cy="68580"/>
          </a:xfrm>
          <a:prstGeom prst="rect">
            <a:avLst>
              <a:gd name="adj" fmla="val 1333333"/>
            </a:avLst>
          </a:prstGeom>
          <a:solidFill>
            <a:srgbClr val="93C5F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Shape 10"/>
          <p:cNvSpPr/>
          <p:nvPr/>
        </p:nvSpPr>
        <p:spPr>
          <a:xfrm>
            <a:off x="1200150" y="2011680"/>
            <a:ext cx="404622" cy="182880"/>
          </a:xfrm>
          <a:prstGeom prst="rect">
            <a:avLst>
              <a:gd name="adj" fmla="val 500000"/>
            </a:avLst>
          </a:prstGeom>
          <a:solidFill>
            <a:srgbClr val="93C5F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Shape 11"/>
          <p:cNvSpPr/>
          <p:nvPr/>
        </p:nvSpPr>
        <p:spPr>
          <a:xfrm>
            <a:off x="1623060" y="1897380"/>
            <a:ext cx="404622" cy="297180"/>
          </a:xfrm>
          <a:prstGeom prst="rect">
            <a:avLst>
              <a:gd name="adj" fmla="val 307692"/>
            </a:avLst>
          </a:prstGeom>
          <a:solidFill>
            <a:srgbClr val="FCD34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4" name="Shape 12"/>
          <p:cNvSpPr/>
          <p:nvPr/>
        </p:nvSpPr>
        <p:spPr>
          <a:xfrm>
            <a:off x="2045970" y="1737360"/>
            <a:ext cx="404622" cy="457200"/>
          </a:xfrm>
          <a:prstGeom prst="rect">
            <a:avLst>
              <a:gd name="adj" fmla="val 225989"/>
            </a:avLst>
          </a:prstGeom>
          <a:solidFill>
            <a:srgbClr val="FCD34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5" name="Shape 13"/>
          <p:cNvSpPr/>
          <p:nvPr/>
        </p:nvSpPr>
        <p:spPr>
          <a:xfrm>
            <a:off x="2468880" y="1805940"/>
            <a:ext cx="404622" cy="388620"/>
          </a:xfrm>
          <a:prstGeom prst="rect">
            <a:avLst>
              <a:gd name="adj" fmla="val 235294"/>
            </a:avLst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Shape 14"/>
          <p:cNvSpPr/>
          <p:nvPr/>
        </p:nvSpPr>
        <p:spPr>
          <a:xfrm>
            <a:off x="2891790" y="1943100"/>
            <a:ext cx="404622" cy="251460"/>
          </a:xfrm>
          <a:prstGeom prst="rect">
            <a:avLst>
              <a:gd name="adj" fmla="val 363636"/>
            </a:avLst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Shape 15"/>
          <p:cNvSpPr/>
          <p:nvPr/>
        </p:nvSpPr>
        <p:spPr>
          <a:xfrm>
            <a:off x="3314700" y="2057400"/>
            <a:ext cx="404622" cy="137160"/>
          </a:xfrm>
          <a:prstGeom prst="rect">
            <a:avLst>
              <a:gd name="adj" fmla="val 666667"/>
            </a:avLst>
          </a:prstGeom>
          <a:solidFill>
            <a:srgbClr val="FCD34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8" name="Shape 16"/>
          <p:cNvSpPr/>
          <p:nvPr/>
        </p:nvSpPr>
        <p:spPr>
          <a:xfrm>
            <a:off x="3737610" y="2139696"/>
            <a:ext cx="404622" cy="54864"/>
          </a:xfrm>
          <a:prstGeom prst="rect">
            <a:avLst>
              <a:gd name="adj" fmla="val 1666667"/>
            </a:avLst>
          </a:prstGeom>
          <a:solidFill>
            <a:srgbClr val="FCD34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9" name="Shape 17"/>
          <p:cNvSpPr/>
          <p:nvPr/>
        </p:nvSpPr>
        <p:spPr>
          <a:xfrm>
            <a:off x="685800" y="2468880"/>
            <a:ext cx="3566160" cy="411480"/>
          </a:xfrm>
          <a:prstGeom prst="rect">
            <a:avLst>
              <a:gd name="adj" fmla="val 888889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0" name="Text 18"/>
          <p:cNvSpPr/>
          <p:nvPr/>
        </p:nvSpPr>
        <p:spPr>
          <a:xfrm>
            <a:off x="685800" y="2468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omega_mean = 1.16    P = 0.11    与1无显著差异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960120"/>
            <a:ext cx="4023360" cy="3108960"/>
          </a:xfrm>
          <a:prstGeom prst="rect">
            <a:avLst>
              <a:gd name="adj" fmla="val 117647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Shape 20"/>
          <p:cNvSpPr/>
          <p:nvPr/>
        </p:nvSpPr>
        <p:spPr>
          <a:xfrm>
            <a:off x="5532120" y="960120"/>
            <a:ext cx="31089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Text 21"/>
          <p:cNvSpPr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跨类别 k_n vs k_f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同细胞类型 (C)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728216"/>
            <a:ext cx="268224" cy="118872"/>
          </a:xfrm>
          <a:prstGeom prst="rect">
            <a:avLst>
              <a:gd name="adj" fmla="val 1538462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6" name="Text 24"/>
          <p:cNvSpPr/>
          <p:nvPr/>
        </p:nvSpPr>
        <p:spPr>
          <a:xfrm>
            <a:off x="6531864" y="172821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k_n:12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6217920" y="1883664"/>
            <a:ext cx="312928" cy="118872"/>
          </a:xfrm>
          <a:prstGeom prst="rect">
            <a:avLst>
              <a:gd name="adj" fmla="val 1538462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8" name="Text 26"/>
          <p:cNvSpPr/>
          <p:nvPr/>
        </p:nvSpPr>
        <p:spPr>
          <a:xfrm>
            <a:off x="6576568" y="188366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k_f:14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800600" y="2194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同亚类，不同器官 (S)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414016"/>
            <a:ext cx="402336" cy="118872"/>
          </a:xfrm>
          <a:prstGeom prst="rect">
            <a:avLst>
              <a:gd name="adj" fmla="val 1538462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Text 29"/>
          <p:cNvSpPr/>
          <p:nvPr/>
        </p:nvSpPr>
        <p:spPr>
          <a:xfrm>
            <a:off x="6665976" y="241401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k_n:18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6217920" y="2569464"/>
            <a:ext cx="715264" cy="118872"/>
          </a:xfrm>
          <a:prstGeom prst="rect">
            <a:avLst>
              <a:gd name="adj" fmla="val 1538462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3" name="Text 31"/>
          <p:cNvSpPr/>
          <p:nvPr/>
        </p:nvSpPr>
        <p:spPr>
          <a:xfrm>
            <a:off x="6978904" y="256946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k_f:32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800600" y="2880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不同亚类，同器官 (D)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099816"/>
            <a:ext cx="335280" cy="118872"/>
          </a:xfrm>
          <a:prstGeom prst="rect">
            <a:avLst>
              <a:gd name="adj" fmla="val 1538462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6" name="Text 34"/>
          <p:cNvSpPr/>
          <p:nvPr/>
        </p:nvSpPr>
        <p:spPr>
          <a:xfrm>
            <a:off x="6598920" y="309981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k_n:15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6217920" y="3255264"/>
            <a:ext cx="1229360" cy="118872"/>
          </a:xfrm>
          <a:prstGeom prst="rect">
            <a:avLst>
              <a:gd name="adj" fmla="val 1538462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8" name="Text 36"/>
          <p:cNvSpPr/>
          <p:nvPr/>
        </p:nvSpPr>
        <p:spPr>
          <a:xfrm>
            <a:off x="7493000" y="325526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k_f:55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800600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跨器官 (X)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785616"/>
            <a:ext cx="491744" cy="118872"/>
          </a:xfrm>
          <a:prstGeom prst="rect">
            <a:avLst>
              <a:gd name="adj" fmla="val 1538462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1" name="Text 39"/>
          <p:cNvSpPr/>
          <p:nvPr/>
        </p:nvSpPr>
        <p:spPr>
          <a:xfrm>
            <a:off x="6755384" y="378561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k_n:22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6217920" y="3941064"/>
            <a:ext cx="1743456" cy="118872"/>
          </a:xfrm>
          <a:prstGeom prst="rect">
            <a:avLst>
              <a:gd name="adj" fmla="val 1538462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3" name="Text 41"/>
          <p:cNvSpPr/>
          <p:nvPr/>
        </p:nvSpPr>
        <p:spPr>
          <a:xfrm>
            <a:off x="8007096" y="394106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k_f:78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800600" y="4160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k_n (JS-HK)   ■ k_f (JS-身份)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CKI与现有指标正交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931920" cy="2011680"/>
          </a:xfrm>
          <a:prstGeom prst="rect">
            <a:avLst>
              <a:gd name="adj" fmla="val 18181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30175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|r| 与标准指标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余弦相似度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1481328"/>
            <a:ext cx="1417320" cy="146304"/>
          </a:xfrm>
          <a:prstGeom prst="rect">
            <a:avLst>
              <a:gd name="adj" fmla="val 1250000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3794760" y="1463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欧氏距离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1847088"/>
            <a:ext cx="1005840" cy="146304"/>
          </a:xfrm>
          <a:prstGeom prst="rect">
            <a:avLst>
              <a:gd name="adj" fmla="val 1250000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Pearson相关系数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2212848"/>
            <a:ext cx="640080" cy="146304"/>
          </a:xfrm>
          <a:prstGeom prst="rect">
            <a:avLst>
              <a:gd name="adj" fmla="val 1250000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Text 14"/>
          <p:cNvSpPr/>
          <p:nvPr/>
        </p:nvSpPr>
        <p:spPr>
          <a:xfrm>
            <a:off x="301752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标志基因重叠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31720" y="2578608"/>
            <a:ext cx="365760" cy="146304"/>
          </a:xfrm>
          <a:prstGeom prst="rect">
            <a:avLst>
              <a:gd name="adj" fmla="val 1250000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9" name="Text 17"/>
          <p:cNvSpPr/>
          <p:nvPr/>
        </p:nvSpPr>
        <p:spPr>
          <a:xfrm>
            <a:off x="2743200" y="2560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743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|r| &lt; 0.31：CKI捕获了独特信息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960120"/>
            <a:ext cx="4023360" cy="2011680"/>
          </a:xfrm>
          <a:prstGeom prst="rect">
            <a:avLst>
              <a:gd name="adj" fmla="val 18181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Shape 20"/>
          <p:cNvSpPr/>
          <p:nvPr/>
        </p:nvSpPr>
        <p:spPr>
          <a:xfrm>
            <a:off x="5532120" y="96012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Text 21"/>
          <p:cNvSpPr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跨器官鉴别能力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同器官 vs 不同器官的细胞类型对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1554480"/>
            <a:ext cx="3657600" cy="502920"/>
          </a:xfrm>
          <a:prstGeom prst="rect">
            <a:avLst>
              <a:gd name="adj" fmla="val 727273"/>
            </a:avLst>
          </a:prstGeom>
          <a:solidFill>
            <a:srgbClr val="F0FDFA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6" name="Text 24"/>
          <p:cNvSpPr/>
          <p:nvPr/>
        </p:nvSpPr>
        <p:spPr>
          <a:xfrm>
            <a:off x="52578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0.680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00600" y="1874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CKI非分类器；中等AUC表明CKI检测扰动而非简单分离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66360" y="2148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同器官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2148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不同器官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9240" y="2377440"/>
            <a:ext cx="914400" cy="365760"/>
          </a:xfrm>
          <a:prstGeom prst="rect">
            <a:avLst>
              <a:gd name="adj" fmla="val 857143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Shape 29"/>
          <p:cNvSpPr/>
          <p:nvPr/>
        </p:nvSpPr>
        <p:spPr>
          <a:xfrm>
            <a:off x="6995160" y="2377440"/>
            <a:ext cx="914400" cy="365760"/>
          </a:xfrm>
          <a:prstGeom prst="rect">
            <a:avLst>
              <a:gd name="adj" fmla="val 545455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2" name="Text 30"/>
          <p:cNvSpPr/>
          <p:nvPr/>
        </p:nvSpPr>
        <p:spPr>
          <a:xfrm>
            <a:off x="5349240" y="2788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 b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~ 3.2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95160" y="2788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 b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~ 8.1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3200400"/>
            <a:ext cx="8138160" cy="1234440"/>
          </a:xfrm>
          <a:prstGeom prst="rect">
            <a:avLst>
              <a:gd name="adj" fmla="val 296296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5" name="Shape 33"/>
          <p:cNvSpPr/>
          <p:nvPr/>
        </p:nvSpPr>
        <p:spPr>
          <a:xfrm>
            <a:off x="1417320" y="3200400"/>
            <a:ext cx="7223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6" name="Text 34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跨物种保守性（鼠 → 人排序）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细胞类型 omega排序在鼠（Tabula Muris）和人（Tabula Sapiens）之间显著保守。</a:t>
            </a:r>
            <a:endParaRPr lang="en-US" sz="10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免疫细胞（T、B、巨噬细胞）展现最强的跨物种 omega排序保守性。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" y="4160520"/>
            <a:ext cx="758952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通路富集验证CKI生物学意义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926080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7223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顶部富集通路 (k_n vs k_f, Tabula Muris)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447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棸糖体 / 翻译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71800" y="1481328"/>
            <a:ext cx="3300984" cy="155448"/>
          </a:xfrm>
          <a:prstGeom prst="rect">
            <a:avLst>
              <a:gd name="adj" fmla="val 1176471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6318504" y="1444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氧化磷酸化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71800" y="1773936"/>
            <a:ext cx="3057754" cy="155448"/>
          </a:xfrm>
          <a:prstGeom prst="rect">
            <a:avLst>
              <a:gd name="adj" fmla="val 1176471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Text 11"/>
          <p:cNvSpPr/>
          <p:nvPr/>
        </p:nvSpPr>
        <p:spPr>
          <a:xfrm>
            <a:off x="6075274" y="1737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029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蛋白酶体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71800" y="2066544"/>
            <a:ext cx="2849270" cy="155448"/>
          </a:xfrm>
          <a:prstGeom prst="rect">
            <a:avLst>
              <a:gd name="adj" fmla="val 1176471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Text 14"/>
          <p:cNvSpPr/>
          <p:nvPr/>
        </p:nvSpPr>
        <p:spPr>
          <a:xfrm>
            <a:off x="5866790" y="20299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3225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剪接体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2359152"/>
            <a:ext cx="2606040" cy="155448"/>
          </a:xfrm>
          <a:prstGeom prst="rect">
            <a:avLst>
              <a:gd name="adj" fmla="val 1176471"/>
            </a:avLst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9" name="Text 17"/>
          <p:cNvSpPr/>
          <p:nvPr/>
        </p:nvSpPr>
        <p:spPr>
          <a:xfrm>
            <a:off x="5623560" y="2322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6151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细胞周期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71800" y="2651760"/>
            <a:ext cx="2432304" cy="155448"/>
          </a:xfrm>
          <a:prstGeom prst="rect">
            <a:avLst>
              <a:gd name="adj" fmla="val 1176471"/>
            </a:avLst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Text 20"/>
          <p:cNvSpPr/>
          <p:nvPr/>
        </p:nvSpPr>
        <p:spPr>
          <a:xfrm>
            <a:off x="5449824" y="2615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907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ECM-受体互作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71800" y="2944368"/>
            <a:ext cx="2258568" cy="155448"/>
          </a:xfrm>
          <a:prstGeom prst="rect">
            <a:avLst>
              <a:gd name="adj" fmla="val 117647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5" name="Text 23"/>
          <p:cNvSpPr/>
          <p:nvPr/>
        </p:nvSpPr>
        <p:spPr>
          <a:xfrm>
            <a:off x="5276088" y="29077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PI3K-Akt信号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71800" y="3236976"/>
            <a:ext cx="1911096" cy="155448"/>
          </a:xfrm>
          <a:prstGeom prst="rect">
            <a:avLst>
              <a:gd name="adj" fmla="val 117647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8" name="Text 26"/>
          <p:cNvSpPr/>
          <p:nvPr/>
        </p:nvSpPr>
        <p:spPr>
          <a:xfrm>
            <a:off x="4928616" y="3200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粘着斑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71800" y="3529584"/>
            <a:ext cx="1667866" cy="155448"/>
          </a:xfrm>
          <a:prstGeom prst="rect">
            <a:avLst>
              <a:gd name="adj" fmla="val 117647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Text 29"/>
          <p:cNvSpPr/>
          <p:nvPr/>
        </p:nvSpPr>
        <p:spPr>
          <a:xfrm>
            <a:off x="4685386" y="34930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4069080"/>
            <a:ext cx="3931920" cy="914400"/>
          </a:xfrm>
          <a:prstGeom prst="rect">
            <a:avLst>
              <a:gd name="adj" fmla="val 40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3" name="Shape 31"/>
          <p:cNvSpPr/>
          <p:nvPr/>
        </p:nvSpPr>
        <p:spPr>
          <a:xfrm>
            <a:off x="1417320" y="4069080"/>
            <a:ext cx="30175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4" name="Text 32"/>
          <p:cNvSpPr/>
          <p:nvPr/>
        </p:nvSpPr>
        <p:spPr>
          <a:xfrm>
            <a:off x="68580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k_n富集（持家基因）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棸糖体、氧化磷酸化、蛋白酶体</a:t>
            </a:r>
            <a:endParaRPr lang="en-US" sz="10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组成型表达，生存必需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4069080"/>
            <a:ext cx="4023360" cy="914400"/>
          </a:xfrm>
          <a:prstGeom prst="rect">
            <a:avLst>
              <a:gd name="adj" fmla="val 40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7" name="Shape 35"/>
          <p:cNvSpPr/>
          <p:nvPr/>
        </p:nvSpPr>
        <p:spPr>
          <a:xfrm>
            <a:off x="5532120" y="4069080"/>
            <a:ext cx="310896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8" name="Text 36"/>
          <p:cNvSpPr/>
          <p:nvPr/>
        </p:nvSpPr>
        <p:spPr>
          <a:xfrm>
            <a:off x="48006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k_f富集（身份基因）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ECM、PI3K-Akt、粘着斑</a:t>
            </a:r>
            <a:endParaRPr lang="en-US" sz="10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细胞类型特异性程序，组织身份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肿瘤悖论：肿瘤比正常组织更均一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00"/>
          </a:xfrm>
          <a:prstGeom prst="rect">
            <a:avLst>
              <a:gd name="adj" fmla="val 16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722376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NN/TT omega比值（跨五种肿瘤）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 = 正常vs正常（同患者内）   |   TT = 肿瘤vs肿瘤（同患者内）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627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LUSC（肺鱗癌）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655064"/>
            <a:ext cx="3762103" cy="164592"/>
          </a:xfrm>
          <a:prstGeom prst="rect">
            <a:avLst>
              <a:gd name="adj" fmla="val 111111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1" name="Text 9"/>
          <p:cNvSpPr/>
          <p:nvPr/>
        </p:nvSpPr>
        <p:spPr>
          <a:xfrm>
            <a:off x="6413863" y="16276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LUAD（肺腺癌）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947672"/>
            <a:ext cx="3511296" cy="164592"/>
          </a:xfrm>
          <a:prstGeom prst="rect">
            <a:avLst>
              <a:gd name="adj" fmla="val 111111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4" name="Text 12"/>
          <p:cNvSpPr/>
          <p:nvPr/>
        </p:nvSpPr>
        <p:spPr>
          <a:xfrm>
            <a:off x="6163056" y="1920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KIRC（肾癌）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2240280"/>
            <a:ext cx="2633472" cy="164592"/>
          </a:xfrm>
          <a:prstGeom prst="rect">
            <a:avLst>
              <a:gd name="adj" fmla="val 1111111"/>
            </a:avLst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Text 15"/>
          <p:cNvSpPr/>
          <p:nvPr/>
        </p:nvSpPr>
        <p:spPr>
          <a:xfrm>
            <a:off x="5285232" y="22128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5054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BRCA（乳腺癌）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2532888"/>
            <a:ext cx="2257262" cy="164592"/>
          </a:xfrm>
          <a:prstGeom prst="rect">
            <a:avLst>
              <a:gd name="adj" fmla="val 1111111"/>
            </a:avLst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0" name="Text 18"/>
          <p:cNvSpPr/>
          <p:nvPr/>
        </p:nvSpPr>
        <p:spPr>
          <a:xfrm>
            <a:off x="4909022" y="25054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LIHC（肝癌）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2825496"/>
            <a:ext cx="2006455" cy="164592"/>
          </a:xfrm>
          <a:prstGeom prst="rect">
            <a:avLst>
              <a:gd name="adj" fmla="val 1111111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Text 21"/>
          <p:cNvSpPr/>
          <p:nvPr/>
        </p:nvSpPr>
        <p:spPr>
          <a:xfrm>
            <a:off x="4658215" y="27980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3090672"/>
            <a:ext cx="18288" cy="133502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5" name="Text 23"/>
          <p:cNvSpPr/>
          <p:nvPr/>
        </p:nvSpPr>
        <p:spPr>
          <a:xfrm>
            <a:off x="1874520" y="3136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如果NN = TT的预期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3429000"/>
            <a:ext cx="8138160" cy="1371600"/>
          </a:xfrm>
          <a:prstGeom prst="rect">
            <a:avLst>
              <a:gd name="adj" fmla="val 266667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7" name="Shape 25"/>
          <p:cNvSpPr/>
          <p:nvPr/>
        </p:nvSpPr>
        <p:spPr>
          <a:xfrm>
            <a:off x="1417320" y="3429000"/>
            <a:ext cx="722376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8" name="Text 26"/>
          <p:cNvSpPr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肿瘤悖论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7240" y="38404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所有5种肿瘤均显示N/T &gt; 1：正常组织比肿瘤具有更大的转录组异质性。</a:t>
            </a:r>
            <a:endParaRPr lang="en-US" sz="10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这与直觉“肿瘤=更异质”的预期相反。</a:t>
            </a:r>
            <a:endParaRPr lang="en-US" sz="10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CKI提供了量化透镜来观察这一反直觉现象。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肿瘤深度分析：分级与亚型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931920" cy="2926080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3017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LIHC：omega随肿瘤分级递增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481328"/>
            <a:ext cx="548640" cy="164592"/>
          </a:xfrm>
          <a:prstGeom prst="rect">
            <a:avLst>
              <a:gd name="adj" fmla="val 1111111"/>
            </a:avLst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228600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12.4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91640" y="2029968"/>
            <a:ext cx="731520" cy="164592"/>
          </a:xfrm>
          <a:prstGeom prst="rect">
            <a:avLst>
              <a:gd name="adj" fmla="val 1111111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Text 11"/>
          <p:cNvSpPr/>
          <p:nvPr/>
        </p:nvSpPr>
        <p:spPr>
          <a:xfrm>
            <a:off x="2468880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13.8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2578608"/>
            <a:ext cx="1188720" cy="164592"/>
          </a:xfrm>
          <a:prstGeom prst="rect">
            <a:avLst>
              <a:gd name="adj" fmla="val 1111111"/>
            </a:avLst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Text 14"/>
          <p:cNvSpPr/>
          <p:nvPr/>
        </p:nvSpPr>
        <p:spPr>
          <a:xfrm>
            <a:off x="292608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18.6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108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91640" y="3127248"/>
            <a:ext cx="1737360" cy="164592"/>
          </a:xfrm>
          <a:prstGeom prst="rect">
            <a:avLst>
              <a:gd name="adj" fmla="val 111111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9" name="Text 17"/>
          <p:cNvSpPr/>
          <p:nvPr/>
        </p:nvSpPr>
        <p:spPr>
          <a:xfrm>
            <a:off x="347472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24.8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3611880"/>
            <a:ext cx="3383280" cy="274320"/>
          </a:xfrm>
          <a:prstGeom prst="rect">
            <a:avLst>
              <a:gd name="adj" fmla="val 1333333"/>
            </a:avLst>
          </a:prstGeom>
          <a:solidFill>
            <a:srgbClr val="FEF2F2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0.003 (Jonckheere-Terpstra趋势检验)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960120"/>
            <a:ext cx="4023360" cy="2926080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Shape 21"/>
          <p:cNvSpPr/>
          <p:nvPr/>
        </p:nvSpPr>
        <p:spPr>
          <a:xfrm>
            <a:off x="5532120" y="960120"/>
            <a:ext cx="310896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4" name="Text 22"/>
          <p:cNvSpPr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BRCA：PAM50亚型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14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Luminal 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55080" y="1490472"/>
            <a:ext cx="508919" cy="164592"/>
          </a:xfrm>
          <a:prstGeom prst="rect">
            <a:avLst>
              <a:gd name="adj" fmla="val 1250000"/>
            </a:avLst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7" name="Text 25"/>
          <p:cNvSpPr/>
          <p:nvPr/>
        </p:nvSpPr>
        <p:spPr>
          <a:xfrm>
            <a:off x="7772400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8.2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18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Luminal 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55080" y="1890472"/>
            <a:ext cx="651665" cy="164592"/>
          </a:xfrm>
          <a:prstGeom prst="rect">
            <a:avLst>
              <a:gd name="adj" fmla="val 1250000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0" name="Text 28"/>
          <p:cNvSpPr/>
          <p:nvPr/>
        </p:nvSpPr>
        <p:spPr>
          <a:xfrm>
            <a:off x="7772400" y="18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10.5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22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HER2富集型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2290472"/>
            <a:ext cx="949569" cy="164592"/>
          </a:xfrm>
          <a:prstGeom prst="rect">
            <a:avLst>
              <a:gd name="adj" fmla="val 1250000"/>
            </a:avLst>
          </a:prstGeom>
          <a:solidFill>
            <a:srgbClr val="7C3AE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3" name="Text 31"/>
          <p:cNvSpPr/>
          <p:nvPr/>
        </p:nvSpPr>
        <p:spPr>
          <a:xfrm>
            <a:off x="7772400" y="22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15.3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26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基底样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2690472"/>
            <a:ext cx="1371600" cy="164592"/>
          </a:xfrm>
          <a:prstGeom prst="rect">
            <a:avLst>
              <a:gd name="adj" fmla="val 1250000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6" name="Text 34"/>
          <p:cNvSpPr/>
          <p:nvPr/>
        </p:nvSpPr>
        <p:spPr>
          <a:xfrm>
            <a:off x="7772400" y="26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22.1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0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正常样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55080" y="3090472"/>
            <a:ext cx="422030" cy="164592"/>
          </a:xfrm>
          <a:prstGeom prst="rect">
            <a:avLst>
              <a:gd name="adj" fmla="val 1250000"/>
            </a:avLst>
          </a:prstGeom>
          <a:solidFill>
            <a:srgbClr val="059669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9" name="Text 37"/>
          <p:cNvSpPr/>
          <p:nvPr/>
        </p:nvSpPr>
        <p:spPr>
          <a:xfrm>
            <a:off x="7772400" y="30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6.8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3460000"/>
            <a:ext cx="3657600" cy="320000"/>
          </a:xfrm>
          <a:prstGeom prst="rect">
            <a:avLst>
              <a:gd name="adj" fmla="val 1333333"/>
            </a:avLst>
          </a:prstGeom>
          <a:solidFill>
            <a:srgbClr val="F5F3FF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1" name="Text 39"/>
          <p:cNvSpPr/>
          <p:nvPr/>
        </p:nvSpPr>
        <p:spPr>
          <a:xfrm>
            <a:off x="4800600" y="3496576"/>
            <a:ext cx="3657600" cy="2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基底样 &gt; Luminal：更侵袭性 = 更高 omega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 0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93B"/>
                </a:solidFill>
              </a:rPr>
              <a:t>脑区 CKI：7.6 倍 omega 梯度</a:t>
            </a:r>
          </a:p>
          <a:p>
            <a:r>
              <a:rPr sz="1000">
                <a:solidFill>
                  <a:srgbClr val="64748B"/>
                </a:solidFill>
              </a:rPr>
              <a:t>108 个人脑区的细胞类别 omega 值（CIBR 数据集）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77724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</a:rPr>
              <a:t>Astrocyte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65960" y="777240"/>
            <a:ext cx="3017520" cy="3017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56631" y="77724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121.8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OPC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60" y="1143000"/>
            <a:ext cx="1373334" cy="3017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2446" y="114300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55.4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Choroid plexus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508760"/>
            <a:ext cx="1126768" cy="3017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5880" y="150876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45.5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Oligodendrocyte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874520"/>
            <a:ext cx="1111900" cy="3017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1012" y="187452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44.9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COP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40280"/>
            <a:ext cx="991962" cy="3017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1074" y="224028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40.0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Ependymal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606040"/>
            <a:ext cx="979572" cy="3017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8684" y="260604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39.5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7180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Microglia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2971800"/>
            <a:ext cx="876485" cy="3017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5597" y="297180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35.4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3756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Fibroblast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3337560"/>
            <a:ext cx="629672" cy="3017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8784" y="333756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25.4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0332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Vascular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960" y="3703320"/>
            <a:ext cx="533771" cy="3017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72883" y="370332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21.5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6908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</a:rPr>
              <a:t>Bergmann glia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4069080"/>
            <a:ext cx="395744" cy="3017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4856" y="406908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16.0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7200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</a:rPr>
              <a:t>121.8 / 16.0 = 7.6x gradient across cell classes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777240"/>
            <a:ext cx="39319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8503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4ED8"/>
                </a:solidFill>
              </a:rPr>
              <a:t>梯度的含义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1124712"/>
            <a:ext cx="3712463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E293B"/>
                </a:solidFill>
              </a:rPr>
              <a:t>  Astrocyte omega 最高：环境依赖性最强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E293B"/>
                </a:solidFill>
              </a:rPr>
              <a:t>  Bergmann glia 最低：跨区域身份稳定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E293B"/>
                </a:solidFill>
              </a:rPr>
              <a:t>  非神经元细胞跨越全梯度范围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E293B"/>
                </a:solidFill>
              </a:rPr>
              <a:t>  梯度反映细胞可塑性层级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313432"/>
            <a:ext cx="39319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4880" y="2313432"/>
            <a:ext cx="3931920" cy="3200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核心洞见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2697480"/>
            <a:ext cx="37124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1E293B"/>
                </a:solidFill>
              </a:rPr>
              <a:t>胶质细胞不是「通用支持细胞」—— 它们表现出最高的区域特化。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E293B"/>
                </a:solidFill>
              </a:rPr>
              <a:t>Astrocyte 会根据局部脑微环境调整 转录组身份，程度远超神经元。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92040"/>
            <a:ext cx="8229600" cy="2926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omega 范围：16.0 - 121.8 = 7.6x 跨度  |  CKI 仅从 scRNA-seq 数据即可量化此梯度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20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基线：相同脑区内的细胞功能分化 &lt; 不同脑区间的细胞功能分化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868680"/>
            <a:ext cx="777240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388620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900" b="1">
                <a:solidFill>
                  <a:srgbClr val="0D9488"/>
                </a:solidFill>
              </a:rPr>
              <a:t>同脑区内 ω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相同脑区，不同细胞类型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微环境限制表达差异 → ω 较低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皮层: Astro(28), OPC(22), Neuron(18)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39" y="388620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900" b="1">
                <a:solidFill>
                  <a:srgbClr val="DC2626"/>
                </a:solidFill>
              </a:rPr>
              <a:t>跨脑区间 ω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相同类型，不同脑区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不同微环境 → ω 更高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OPC: SVZ(3.2)→Hipp(18)→Cortex(22)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79" y="3886200"/>
            <a:ext cx="23317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900" b="1">
                <a:solidFill>
                  <a:srgbClr val="0F172A"/>
                </a:solidFill>
              </a:rPr>
              <a:t>基线规律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同脑区 ω &lt; 跨脑区 ω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细胞在局部环境中分化，非迁移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特例：OPC 打破了预期基线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457200" y="3886200"/>
            <a:ext cx="37490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1000" b="1">
                <a:solidFill>
                  <a:srgbClr val="DC2626"/>
                </a:solidFill>
              </a:rPr>
              <a:t>OPC：打破基线的特例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23.5% OPC配对显示强烈ω异常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ω(SVZ)=3.2, ω(Cortex)=22: Δω=18.8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同类间相似性高于预期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OPC已知在发育中活跃迁移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CKI在无先验知识下独立发现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3886200"/>
            <a:ext cx="37490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1000" b="1">
                <a:solidFill>
                  <a:srgbClr val="0D9488"/>
                </a:solidFill>
              </a:rPr>
              <a:t>星形胶质细胞：高ω 低迁移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最高基线 ω=121.8（强细胞身份）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仅14个迁移候选 — 数量极少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跨类Δω=105.8（异常地大）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高ω = 局部特异性分化，非迁移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CKI独立区分两类信号</a:t>
            </a:r>
          </a:p>
        </p:txBody>
      </p:sp>
      <p:pic>
        <p:nvPicPr>
          <p:cNvPr id="8" name="Picture 7" descr="_s16_anomaly_v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868680"/>
            <a:ext cx="7772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推断：OPC 迁移假说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457200" y="3886200"/>
            <a:ext cx="37490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1000" b="1">
                <a:solidFill>
                  <a:srgbClr val="2563EB"/>
                </a:solidFill>
              </a:rPr>
              <a:t>各脑区 ω 梯度分布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皮层 Astrocytes: ω=121.8（最高）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小脑 Bergmann Glia: ω=85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海马/丘脑/纹状体: ω=38-45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SVZ OPCs: ω=3.2（分化程度最低）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3886200"/>
            <a:ext cx="37490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1000" b="1">
                <a:solidFill>
                  <a:srgbClr val="DC2626"/>
                </a:solidFill>
              </a:rPr>
              <a:t>OPC 迁移假说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同类比较：OPC(SVZ) vs OPC(Cortex) → ω≈22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跨类比较：Astrocyte vs OPC（同皮层）→ ω≈121.8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OPC跨脑区相似性 ＞ 皮层内跨类差异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→ SVZ→皮层 OPC迁移是最合理假说</a:t>
            </a:r>
          </a:p>
        </p:txBody>
      </p:sp>
      <p:pic>
        <p:nvPicPr>
          <p:cNvPr id="8" name="Picture 7" descr="_s17_migration_v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868680"/>
            <a:ext cx="7772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总结：CKI的四大核心贡献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931670" cy="347472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1097280"/>
            <a:ext cx="101727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Shape 5"/>
          <p:cNvSpPr/>
          <p:nvPr/>
        </p:nvSpPr>
        <p:spPr>
          <a:xfrm>
            <a:off x="1240155" y="1234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8" name="Text 6"/>
          <p:cNvSpPr/>
          <p:nvPr/>
        </p:nvSpPr>
        <p:spPr>
          <a:xfrm>
            <a:off x="1240155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931670" cy="502920"/>
          </a:xfrm>
          <a:prstGeom prst="rect">
            <a:avLst>
              <a:gd name="adj" fmla="val 363636"/>
            </a:avLst>
          </a:prstGeom>
          <a:solidFill>
            <a:srgbClr val="EFF6FF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612648" y="1847088"/>
            <a:ext cx="1712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新指标 omega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16573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受Ka/Ks启发的比值，在连续尺度上量化细胞状态分化。omega = k_f/k_n区分功能性选择与转录噪音。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71750" y="1097280"/>
            <a:ext cx="1931670" cy="347472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Shape 11"/>
          <p:cNvSpPr/>
          <p:nvPr/>
        </p:nvSpPr>
        <p:spPr>
          <a:xfrm>
            <a:off x="3486150" y="1097280"/>
            <a:ext cx="101727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4" name="Shape 12"/>
          <p:cNvSpPr/>
          <p:nvPr/>
        </p:nvSpPr>
        <p:spPr>
          <a:xfrm>
            <a:off x="3308985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5" name="Text 13"/>
          <p:cNvSpPr/>
          <p:nvPr/>
        </p:nvSpPr>
        <p:spPr>
          <a:xfrm>
            <a:off x="3308985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71750" y="1828800"/>
            <a:ext cx="1931670" cy="502920"/>
          </a:xfrm>
          <a:prstGeom prst="rect">
            <a:avLst>
              <a:gd name="adj" fmla="val 363636"/>
            </a:avLst>
          </a:prstGeom>
          <a:solidFill>
            <a:srgbClr val="F0FDFA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Text 15"/>
          <p:cNvSpPr/>
          <p:nvPr/>
        </p:nvSpPr>
        <p:spPr>
          <a:xfrm>
            <a:off x="2681478" y="1847088"/>
            <a:ext cx="1712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中性参照策略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08910" y="2468880"/>
            <a:ext cx="16573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持家基因作为内部校准标准，类比分子进化中的同义突变。数据驱动HK基因检测（检出率 + CV），任意物种适用。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40580" y="1097280"/>
            <a:ext cx="1931670" cy="347472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0" name="Shape 18"/>
          <p:cNvSpPr/>
          <p:nvPr/>
        </p:nvSpPr>
        <p:spPr>
          <a:xfrm>
            <a:off x="5554980" y="1097280"/>
            <a:ext cx="101727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1" name="Shape 19"/>
          <p:cNvSpPr/>
          <p:nvPr/>
        </p:nvSpPr>
        <p:spPr>
          <a:xfrm>
            <a:off x="5377815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Text 20"/>
          <p:cNvSpPr/>
          <p:nvPr/>
        </p:nvSpPr>
        <p:spPr>
          <a:xfrm>
            <a:off x="5377815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40580" y="1828800"/>
            <a:ext cx="1931670" cy="502920"/>
          </a:xfrm>
          <a:prstGeom prst="rect">
            <a:avLst>
              <a:gd name="adj" fmla="val 363636"/>
            </a:avLst>
          </a:prstGeom>
          <a:solidFill>
            <a:srgbClr val="FFFB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4" name="Text 22"/>
          <p:cNvSpPr/>
          <p:nvPr/>
        </p:nvSpPr>
        <p:spPr>
          <a:xfrm>
            <a:off x="4750308" y="1847088"/>
            <a:ext cx="1712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多层次验证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7740" y="2468880"/>
            <a:ext cx="16573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跨Tabula Muris、Tabula Sapiens、TCGA泛癌、人脑图谱验证。超过25万细胞，跨物种、跨器官、跨疾病。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09410" y="1097280"/>
            <a:ext cx="1931670" cy="347472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7" name="Shape 25"/>
          <p:cNvSpPr/>
          <p:nvPr/>
        </p:nvSpPr>
        <p:spPr>
          <a:xfrm>
            <a:off x="7623810" y="1097280"/>
            <a:ext cx="101727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8" name="Shape 26"/>
          <p:cNvSpPr/>
          <p:nvPr/>
        </p:nvSpPr>
        <p:spPr>
          <a:xfrm>
            <a:off x="7446645" y="123444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9" name="Text 27"/>
          <p:cNvSpPr/>
          <p:nvPr/>
        </p:nvSpPr>
        <p:spPr>
          <a:xfrm>
            <a:off x="7446645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709410" y="1828800"/>
            <a:ext cx="1931670" cy="502920"/>
          </a:xfrm>
          <a:prstGeom prst="rect">
            <a:avLst>
              <a:gd name="adj" fmla="val 363636"/>
            </a:avLst>
          </a:prstGeom>
          <a:solidFill>
            <a:srgbClr val="FEF2F2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Text 29"/>
          <p:cNvSpPr/>
          <p:nvPr/>
        </p:nvSpPr>
        <p:spPr>
          <a:xfrm>
            <a:off x="6819138" y="1847088"/>
            <a:ext cx="1712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新颖应用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46570" y="2468880"/>
            <a:ext cx="16573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发现肿瘤 NN/TT悖论、8倍脑区 omega梯度、迁移推断框架。生成了可检验的细胞迁移假说。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未来方向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1005840"/>
            <a:ext cx="17068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11556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空间转录组学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将CKI应用于空间数据，在组织上下文中绘制 omega梯度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1360" y="100584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1" name="Shape 9"/>
          <p:cNvSpPr/>
          <p:nvPr/>
        </p:nvSpPr>
        <p:spPr>
          <a:xfrm>
            <a:off x="4175760" y="1005840"/>
            <a:ext cx="17068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Text 10"/>
          <p:cNvSpPr/>
          <p:nvPr/>
        </p:nvSpPr>
        <p:spPr>
          <a:xfrm>
            <a:off x="33985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10000" y="111556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表观组学扩展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8520" y="15087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将框架扩展到ATAC-seq、甲基化、染色质可及性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19800" y="100584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Shape 14"/>
          <p:cNvSpPr/>
          <p:nvPr/>
        </p:nvSpPr>
        <p:spPr>
          <a:xfrm>
            <a:off x="6934200" y="1005840"/>
            <a:ext cx="170688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Text 15"/>
          <p:cNvSpPr/>
          <p:nvPr/>
        </p:nvSpPr>
        <p:spPr>
          <a:xfrm>
            <a:off x="615696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68440" y="111556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临床预后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6960" y="15087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 omega作为肿瘤和疾病进展的预后生物标志物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74320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1" name="Shape 19"/>
          <p:cNvSpPr/>
          <p:nvPr/>
        </p:nvSpPr>
        <p:spPr>
          <a:xfrm>
            <a:off x="1417320" y="2743200"/>
            <a:ext cx="17068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Text 20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285292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发育生物学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24612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追踪胚胎发育和器官发生过程中的 omega动态变化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1360" y="274320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6" name="Shape 24"/>
          <p:cNvSpPr/>
          <p:nvPr/>
        </p:nvSpPr>
        <p:spPr>
          <a:xfrm>
            <a:off x="4175760" y="2743200"/>
            <a:ext cx="17068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7" name="Text 25"/>
          <p:cNvSpPr/>
          <p:nvPr/>
        </p:nvSpPr>
        <p:spPr>
          <a:xfrm>
            <a:off x="3398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⊎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10000" y="285292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多组学整合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98520" y="324612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将转录组 omega与蛋白质组、代谢组层面整合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19800" y="274320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Shape 29"/>
          <p:cNvSpPr/>
          <p:nvPr/>
        </p:nvSpPr>
        <p:spPr>
          <a:xfrm>
            <a:off x="6934200" y="2743200"/>
            <a:ext cx="17068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2" name="Text 30"/>
          <p:cNvSpPr/>
          <p:nvPr/>
        </p:nvSpPr>
        <p:spPr>
          <a:xfrm>
            <a:off x="61569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⌂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568440" y="285292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在线工具与数据库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56960" y="324612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 CKI计算 Web服务器，提供预计算参考图谱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问题与讨论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Zhang</a:t>
            </a:r>
            <a:endParaRPr lang="en-US" sz="12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knightz@pumc.edu.cn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CKI代码与数据：github.com/zhanglknt/CKI-cell-type-identification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182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CKI: 细胞状态动力学指数</dc:title>
  <dc:subject>PptxGenJS Presentation</dc:subject>
  <dc:creator>Li Zhang</dc:creator>
  <cp:lastModifiedBy>Li Zhang</cp:lastModifiedBy>
  <cp:revision>1</cp:revision>
  <dcterms:created xsi:type="dcterms:W3CDTF">2026-05-24T07:50:26Z</dcterms:created>
  <dcterms:modified xsi:type="dcterms:W3CDTF">2026-05-24T07:50:26Z</dcterms:modified>
</cp:coreProperties>
</file>