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8" r:id="rId29"/>
    <p:sldId id="258" r:id="rId4"/>
    <p:sldId id="259" r:id="rId5"/>
    <p:sldId id="260" r:id="rId6"/>
    <p:sldId id="261" r:id="rId7"/>
    <p:sldId id="276" r:id="rId27"/>
    <p:sldId id="277" r:id="rId28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6.xml"/><Relationship Id="rId15" Type="http://schemas.openxmlformats.org/officeDocument/2006/relationships/slide" Target="slides/slide17.xml"/><Relationship Id="rId16" Type="http://schemas.openxmlformats.org/officeDocument/2006/relationships/slide" Target="slides/slide18.xml"/><Relationship Id="rId17" Type="http://schemas.openxmlformats.org/officeDocument/2006/relationships/slide" Target="slides/slide19.xml"/><Relationship Id="rId18" Type="http://schemas.openxmlformats.org/officeDocument/2006/relationships/slide" Target="slides/slide20.xml"/><Relationship Id="rId19" Type="http://schemas.openxmlformats.org/officeDocument/2006/relationships/slide" Target="slides/slide21.xml"/><Relationship Id="rId20" Type="http://schemas.openxmlformats.org/officeDocument/2006/relationships/slide" Target="slides/slide22.xml"/><Relationship Id="rId21" Type="http://schemas.openxmlformats.org/officeDocument/2006/relationships/slide" Target="slides/slide23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21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Relationship Id="rId9" Type="http://schemas.openxmlformats.org/officeDocument/2006/relationships/image" Target="../media/image15.png"/><Relationship Id="rId10" Type="http://schemas.openxmlformats.org/officeDocument/2006/relationships/image" Target="../media/image18.png"/><Relationship Id="rId11" Type="http://schemas.openxmlformats.org/officeDocument/2006/relationships/image" Target="../media/image22.png"/><Relationship Id="rId12" Type="http://schemas.openxmlformats.org/officeDocument/2006/relationships/image" Target="../media/image25.png"/><Relationship Id="rId13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73152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CKI: Cell-state Kinetic Index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Transcriptomic Metric Inspired by Molecular Evolution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Zhang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Institute of Blood Transfusion, CAMS &amp; PUMC</a:t>
            </a:r>
            <a:endParaRPr lang="en-US" sz="1000" dirty="0"/>
          </a:p>
          <a:p>
            <a:pPr algn="ctr"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Institute for Brain Research, Beijing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E293B"/>
                </a:solidFill>
              </a:rPr>
              <a:t>What Defines Cell Type?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005840"/>
            <a:ext cx="594360" cy="594360"/>
          </a:xfrm>
          <a:prstGeom prst="ellipse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Neuron</a:t>
            </a:r>
          </a:p>
        </p:txBody>
      </p:sp>
      <p:sp>
        <p:nvSpPr>
          <p:cNvPr id="4" name="Oval 3"/>
          <p:cNvSpPr/>
          <p:nvPr/>
        </p:nvSpPr>
        <p:spPr>
          <a:xfrm>
            <a:off x="2194560" y="1005840"/>
            <a:ext cx="594360" cy="5943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T cell</a:t>
            </a:r>
          </a:p>
        </p:txBody>
      </p:sp>
      <p:sp>
        <p:nvSpPr>
          <p:cNvPr id="5" name="Oval 4"/>
          <p:cNvSpPr/>
          <p:nvPr/>
        </p:nvSpPr>
        <p:spPr>
          <a:xfrm>
            <a:off x="3474720" y="100584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B cell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2377440"/>
            <a:ext cx="685800" cy="68580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Macrophage</a:t>
            </a:r>
          </a:p>
        </p:txBody>
      </p:sp>
      <p:sp>
        <p:nvSpPr>
          <p:cNvPr id="7" name="Oval 6"/>
          <p:cNvSpPr/>
          <p:nvPr/>
        </p:nvSpPr>
        <p:spPr>
          <a:xfrm>
            <a:off x="2834640" y="237744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/>
          <a:lstStyle/>
          <a:p>
            <a:pPr algn="ctr"/>
            <a:r>
              <a:rPr sz="900" b="1">
                <a:solidFill>
                  <a:srgbClr val="FFFFFF"/>
                </a:solidFill>
              </a:rPr>
              <a:t>Fibroblast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64748B"/>
                </a:solidFill>
              </a:rPr>
              <a:t>Same tissue,
different identities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73152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D4ED8"/>
                </a:solidFill>
              </a:rPr>
              <a:t>The Single-Cell Revolution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scRNA-seq reveals vast cellular heterogeneity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Millions of cells across hundreds of cell types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Each cell type has a unique gene expression program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C2626"/>
                </a:solidFill>
              </a:rPr>
              <a:t>The Knowledge Gap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How do these identities emerge?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Which cell types are truly 'differentiated'?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How much of the difference is functional vs noise?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Can we quantify 'cell-ness' on a continuous scale?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1E293B"/>
                </a:solidFill>
              </a:rPr>
              <a:t>How do cells migrate between organs?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8006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 0"/>
          <p:cNvSpPr txBox="1"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</a:rPr>
              <a:t>Same Cell Type, Different Functional States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77724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64748B"/>
                </a:solidFill>
              </a:rPr>
              <a:t>CKI captures state-specific changes within cell types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8229600" cy="2606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0233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D9488"/>
                </a:solidFill>
              </a:rPr>
              <a:t>Key Insight: CKI's HK gene set (detection_rate + CV) automatically covers all states within a cell type, providing a stable baseline for quantifying functional divergence.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Methods: What They Can and Cannot 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1931670" cy="274320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960120"/>
            <a:ext cx="101727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Shape 5"/>
          <p:cNvSpPr/>
          <p:nvPr/>
        </p:nvSpPr>
        <p:spPr>
          <a:xfrm>
            <a:off x="502920" y="960120"/>
            <a:ext cx="1931670" cy="640080"/>
          </a:xfrm>
          <a:prstGeom prst="rect">
            <a:avLst>
              <a:gd name="adj" fmla="val 571429"/>
            </a:avLst>
          </a:prstGeom>
          <a:solidFill>
            <a:srgbClr val="EFF6FF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8" name="Text 6"/>
          <p:cNvSpPr/>
          <p:nvPr/>
        </p:nvSpPr>
        <p:spPr>
          <a:xfrm>
            <a:off x="612648" y="1005840"/>
            <a:ext cx="17122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</a:t>
            </a:r>
            <a:endParaRPr lang="en-US" sz="1200" dirty="0"/>
          </a:p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645920"/>
            <a:ext cx="1565910" cy="7315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0" name="Shape 8"/>
          <p:cNvSpPr/>
          <p:nvPr/>
        </p:nvSpPr>
        <p:spPr>
          <a:xfrm>
            <a:off x="777240" y="178308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73736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marker genes</a:t>
            </a:r>
            <a:endParaRPr lang="en-US" sz="9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conditions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2514600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4" name="Text 12"/>
          <p:cNvSpPr/>
          <p:nvPr/>
        </p:nvSpPr>
        <p:spPr>
          <a:xfrm>
            <a:off x="77724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246888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not quantify</a:t>
            </a:r>
            <a:endParaRPr lang="en-US" sz="9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magnitude of divergence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60120" y="3520440"/>
            <a:ext cx="1017270" cy="2743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Shape 15"/>
          <p:cNvSpPr/>
          <p:nvPr/>
        </p:nvSpPr>
        <p:spPr>
          <a:xfrm>
            <a:off x="2571750" y="960120"/>
            <a:ext cx="1931670" cy="274320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8" name="Shape 16"/>
          <p:cNvSpPr/>
          <p:nvPr/>
        </p:nvSpPr>
        <p:spPr>
          <a:xfrm>
            <a:off x="3486150" y="960120"/>
            <a:ext cx="101727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9" name="Shape 17"/>
          <p:cNvSpPr/>
          <p:nvPr/>
        </p:nvSpPr>
        <p:spPr>
          <a:xfrm>
            <a:off x="2571750" y="960120"/>
            <a:ext cx="1931670" cy="640080"/>
          </a:xfrm>
          <a:prstGeom prst="rect">
            <a:avLst>
              <a:gd name="adj" fmla="val 571429"/>
            </a:avLst>
          </a:prstGeom>
          <a:solidFill>
            <a:srgbClr val="F0FDFA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0" name="Text 18"/>
          <p:cNvSpPr/>
          <p:nvPr/>
        </p:nvSpPr>
        <p:spPr>
          <a:xfrm>
            <a:off x="2681478" y="1005840"/>
            <a:ext cx="17122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</a:t>
            </a:r>
            <a:endParaRPr lang="en-US" sz="1200" dirty="0"/>
          </a:p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Enrichment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54630" y="1645920"/>
            <a:ext cx="1565910" cy="7315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Shape 20"/>
          <p:cNvSpPr/>
          <p:nvPr/>
        </p:nvSpPr>
        <p:spPr>
          <a:xfrm>
            <a:off x="2846070" y="178308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3" name="Text 21"/>
          <p:cNvSpPr/>
          <p:nvPr/>
        </p:nvSpPr>
        <p:spPr>
          <a:xfrm>
            <a:off x="2846070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20390" y="173736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genes to</a:t>
            </a:r>
            <a:endParaRPr lang="en-US" sz="9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biological functions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846070" y="2514600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6" name="Text 24"/>
          <p:cNvSpPr/>
          <p:nvPr/>
        </p:nvSpPr>
        <p:spPr>
          <a:xfrm>
            <a:off x="284607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20390" y="246888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distinguish</a:t>
            </a:r>
            <a:endParaRPr lang="en-US" sz="9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from signal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028950" y="3520440"/>
            <a:ext cx="1017270" cy="2743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9" name="Shape 27"/>
          <p:cNvSpPr/>
          <p:nvPr/>
        </p:nvSpPr>
        <p:spPr>
          <a:xfrm>
            <a:off x="4640580" y="960120"/>
            <a:ext cx="1931670" cy="274320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0" name="Shape 28"/>
          <p:cNvSpPr/>
          <p:nvPr/>
        </p:nvSpPr>
        <p:spPr>
          <a:xfrm>
            <a:off x="5554980" y="960120"/>
            <a:ext cx="101727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1" name="Shape 29"/>
          <p:cNvSpPr/>
          <p:nvPr/>
        </p:nvSpPr>
        <p:spPr>
          <a:xfrm>
            <a:off x="4640580" y="960120"/>
            <a:ext cx="1931670" cy="640080"/>
          </a:xfrm>
          <a:prstGeom prst="rect">
            <a:avLst>
              <a:gd name="adj" fmla="val 571429"/>
            </a:avLst>
          </a:prstGeom>
          <a:solidFill>
            <a:srgbClr val="FFFB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2" name="Text 30"/>
          <p:cNvSpPr/>
          <p:nvPr/>
        </p:nvSpPr>
        <p:spPr>
          <a:xfrm>
            <a:off x="4750308" y="1005840"/>
            <a:ext cx="17122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Pseudotime</a:t>
            </a:r>
            <a:endParaRPr lang="en-US" sz="1200" dirty="0"/>
          </a:p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23460" y="1645920"/>
            <a:ext cx="1565910" cy="7315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4" name="Shape 32"/>
          <p:cNvSpPr/>
          <p:nvPr/>
        </p:nvSpPr>
        <p:spPr>
          <a:xfrm>
            <a:off x="4914900" y="1783080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5" name="Text 33"/>
          <p:cNvSpPr/>
          <p:nvPr/>
        </p:nvSpPr>
        <p:spPr>
          <a:xfrm>
            <a:off x="4914900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89220" y="173736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cells along</a:t>
            </a:r>
            <a:endParaRPr lang="en-US" sz="9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developmental paths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914900" y="2514600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8" name="Text 36"/>
          <p:cNvSpPr/>
          <p:nvPr/>
        </p:nvSpPr>
        <p:spPr>
          <a:xfrm>
            <a:off x="491490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89220" y="246888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continuous</a:t>
            </a:r>
            <a:endParaRPr lang="en-US" sz="9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progression; no magnitude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97780" y="3520440"/>
            <a:ext cx="101727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1" name="Shape 39"/>
          <p:cNvSpPr/>
          <p:nvPr/>
        </p:nvSpPr>
        <p:spPr>
          <a:xfrm>
            <a:off x="6709410" y="960120"/>
            <a:ext cx="1931670" cy="274320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2" name="Shape 40"/>
          <p:cNvSpPr/>
          <p:nvPr/>
        </p:nvSpPr>
        <p:spPr>
          <a:xfrm>
            <a:off x="7623810" y="960120"/>
            <a:ext cx="101727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3" name="Shape 41"/>
          <p:cNvSpPr/>
          <p:nvPr/>
        </p:nvSpPr>
        <p:spPr>
          <a:xfrm>
            <a:off x="6709410" y="960120"/>
            <a:ext cx="1931670" cy="640080"/>
          </a:xfrm>
          <a:prstGeom prst="rect">
            <a:avLst>
              <a:gd name="adj" fmla="val 571429"/>
            </a:avLst>
          </a:prstGeom>
          <a:solidFill>
            <a:srgbClr val="FEF2F2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4" name="Text 42"/>
          <p:cNvSpPr/>
          <p:nvPr/>
        </p:nvSpPr>
        <p:spPr>
          <a:xfrm>
            <a:off x="6819138" y="1005840"/>
            <a:ext cx="171221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&amp;</a:t>
            </a:r>
            <a:endParaRPr lang="en-US" sz="1200" dirty="0"/>
          </a:p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892290" y="1645920"/>
            <a:ext cx="1565910" cy="7315"/>
          </a:xfrm>
          <a:prstGeom prst="rect">
            <a:avLst/>
          </a:prstGeom>
          <a:solidFill>
            <a:srgbClr val="D1D5D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6" name="Shape 44"/>
          <p:cNvSpPr/>
          <p:nvPr/>
        </p:nvSpPr>
        <p:spPr>
          <a:xfrm>
            <a:off x="6983730" y="178308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7" name="Text 45"/>
          <p:cNvSpPr/>
          <p:nvPr/>
        </p:nvSpPr>
        <p:spPr>
          <a:xfrm>
            <a:off x="6983730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58050" y="173736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cells into</a:t>
            </a:r>
            <a:endParaRPr lang="en-US" sz="9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types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983730" y="2514600"/>
            <a:ext cx="201168" cy="201168"/>
          </a:xfrm>
          <a:prstGeom prst="ellipse">
            <a:avLst/>
          </a:prstGeom>
          <a:solidFill>
            <a:srgbClr val="94A3B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50" name="Text 48"/>
          <p:cNvSpPr/>
          <p:nvPr/>
        </p:nvSpPr>
        <p:spPr>
          <a:xfrm>
            <a:off x="6983730" y="2514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58050" y="2468880"/>
            <a:ext cx="12001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classification;</a:t>
            </a:r>
            <a:endParaRPr lang="en-US" sz="9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misses graded differences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66610" y="3520440"/>
            <a:ext cx="1017270" cy="2743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53" name="Shape 51"/>
          <p:cNvSpPr/>
          <p:nvPr/>
        </p:nvSpPr>
        <p:spPr>
          <a:xfrm>
            <a:off x="502920" y="3840480"/>
            <a:ext cx="8138160" cy="411480"/>
          </a:xfrm>
          <a:prstGeom prst="rect">
            <a:avLst>
              <a:gd name="adj" fmla="val 888889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54" name="Text 52"/>
          <p:cNvSpPr/>
          <p:nvPr/>
        </p:nvSpPr>
        <p:spPr>
          <a:xfrm>
            <a:off x="640080" y="3840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Gap: existing methods cannot quantify cell-state divergence on a continuous scale — this is where CKI innovates</a:t>
            </a:r>
            <a:endParaRPr lang="en-US" sz="1100" dirty="0"/>
          </a:p>
        </p:txBody>
      </p:sp>
      <p:pic>
        <p:nvPicPr>
          <p:cNvPr id="55" name="Picture 54" descr="de_volcan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20" y="3060120"/>
            <a:ext cx="1691670" cy="500000"/>
          </a:xfrm>
          <a:prstGeom prst="rect">
            <a:avLst/>
          </a:prstGeom>
        </p:spPr>
      </p:pic>
      <p:pic>
        <p:nvPicPr>
          <p:cNvPr id="56" name="Picture 55" descr="pathway_enri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1750" y="3060120"/>
            <a:ext cx="1691670" cy="500000"/>
          </a:xfrm>
          <a:prstGeom prst="rect">
            <a:avLst/>
          </a:prstGeom>
        </p:spPr>
      </p:pic>
      <p:pic>
        <p:nvPicPr>
          <p:cNvPr id="57" name="Picture 56" descr="pseudotime_traj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0580" y="3060120"/>
            <a:ext cx="1691670" cy="500000"/>
          </a:xfrm>
          <a:prstGeom prst="rect">
            <a:avLst/>
          </a:prstGeom>
        </p:spPr>
      </p:pic>
      <p:pic>
        <p:nvPicPr>
          <p:cNvPr id="58" name="Picture 57" descr="clustering_u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9410" y="3060120"/>
            <a:ext cx="1691670" cy="5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Inspiration: The Ka/Ks Ratio in Molecular Evolution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5" name="Image 0" descr="C:\Users\KnightZ\Desktop\细胞受选择\results\figures_final\slides_svg\01_kaks_analog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914400"/>
            <a:ext cx="813816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3840480"/>
            <a:ext cx="8138160" cy="457200"/>
          </a:xfrm>
          <a:prstGeom prst="rect">
            <a:avLst>
              <a:gd name="adj" fmla="val 800000"/>
            </a:avLst>
          </a:prstGeom>
          <a:solidFill>
            <a:srgbClr val="EFF6FF"/>
          </a:solidFill>
          <a:ln w="12700">
            <a:solidFill>
              <a:srgbClr val="0D9488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Use a "neutral reference" to distinguish functional selection from stochastic drift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Ka/Ks &gt; 1 = positive selection   |   Ka/Ks = 1 = neutral drift   |   Ka/Ks &lt; 1 = purifying selection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CKI: A Ka/Ks-Inspired Metric for Transcriptomes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657600" cy="1737360"/>
          </a:xfrm>
          <a:prstGeom prst="rect">
            <a:avLst>
              <a:gd name="adj" fmla="val 210526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960120"/>
            <a:ext cx="27432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4008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Molecular Evolution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Synonymous mutations (dS) = neutral reference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5800" y="1508760"/>
            <a:ext cx="73152" cy="731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Non-synonymous mutations (dN) = functional signal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1874520"/>
            <a:ext cx="73152" cy="731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2" name="Text 10"/>
          <p:cNvSpPr/>
          <p:nvPr/>
        </p:nvSpPr>
        <p:spPr>
          <a:xfrm>
            <a:off x="68580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dN/dS ratio quantifies selection pressure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2240280"/>
            <a:ext cx="73152" cy="7315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4" name="Text 12"/>
          <p:cNvSpPr/>
          <p:nvPr/>
        </p:nvSpPr>
        <p:spPr>
          <a:xfrm>
            <a:off x="4206240" y="14630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3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4526280" y="960120"/>
            <a:ext cx="3657600" cy="1737360"/>
          </a:xfrm>
          <a:prstGeom prst="rect">
            <a:avLst>
              <a:gd name="adj" fmla="val 210526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6" name="Shape 14"/>
          <p:cNvSpPr/>
          <p:nvPr/>
        </p:nvSpPr>
        <p:spPr>
          <a:xfrm>
            <a:off x="5440680" y="96012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Text 15"/>
          <p:cNvSpPr/>
          <p:nvPr/>
        </p:nvSpPr>
        <p:spPr>
          <a:xfrm>
            <a:off x="466344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Transcriptomics (CKI)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Housekeeping genes (k_n) = neutral reference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1508760"/>
            <a:ext cx="73152" cy="7315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0" name="Text 18"/>
          <p:cNvSpPr/>
          <p:nvPr/>
        </p:nvSpPr>
        <p:spPr>
          <a:xfrm>
            <a:off x="470916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genes (k_f) = functional divergence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1874520"/>
            <a:ext cx="73152" cy="7315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Text 20"/>
          <p:cNvSpPr/>
          <p:nvPr/>
        </p:nvSpPr>
        <p:spPr>
          <a:xfrm>
            <a:off x="470916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k_f / k_n quantifies cell-state kinetics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240280"/>
            <a:ext cx="73152" cy="7315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4" name="Shape 22"/>
          <p:cNvSpPr/>
          <p:nvPr/>
        </p:nvSpPr>
        <p:spPr>
          <a:xfrm>
            <a:off x="1234440" y="2971800"/>
            <a:ext cx="6675120" cy="822960"/>
          </a:xfrm>
          <a:prstGeom prst="rect">
            <a:avLst>
              <a:gd name="adj" fmla="val 888889"/>
            </a:avLst>
          </a:prstGeom>
          <a:solidFill>
            <a:srgbClr val="0B1D3A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5" name="Text 23"/>
          <p:cNvSpPr/>
          <p:nvPr/>
        </p:nvSpPr>
        <p:spPr>
          <a:xfrm>
            <a:off x="1417320" y="3063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JS(identity genes) / JS(housekeeping genes)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17320" y="34290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= Jensen-Shannon divergence between two cell populations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023360"/>
            <a:ext cx="8138160" cy="411480"/>
          </a:xfrm>
          <a:prstGeom prst="rect">
            <a:avLst>
              <a:gd name="adj" fmla="val 888889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8" name="Text 26"/>
          <p:cNvSpPr/>
          <p:nvPr/>
        </p:nvSpPr>
        <p:spPr>
          <a:xfrm>
            <a:off x="640080" y="40233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&gt;&gt; 1: functional divergence exceeds neutral expectation  |  omega ~ 1: differences are noise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CKI: Three-Step Computational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pic>
        <p:nvPicPr>
          <p:cNvPr id="5" name="Image 0" descr="C:\Users\KnightZ\Desktop\细胞受选择\results\figures_final\slides_svg\02_cki_pip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3657600"/>
            <a:ext cx="2621280" cy="1188720"/>
          </a:xfrm>
          <a:prstGeom prst="rect">
            <a:avLst>
              <a:gd name="adj" fmla="val 30769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Shape 4"/>
          <p:cNvSpPr/>
          <p:nvPr/>
        </p:nvSpPr>
        <p:spPr>
          <a:xfrm>
            <a:off x="1417320" y="3657600"/>
            <a:ext cx="170688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8" name="Text 5"/>
          <p:cNvSpPr/>
          <p:nvPr/>
        </p:nvSpPr>
        <p:spPr>
          <a:xfrm>
            <a:off x="612648" y="3703320"/>
            <a:ext cx="2401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12648" y="3886200"/>
            <a:ext cx="240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 Gene Selection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" y="4160520"/>
            <a:ext cx="2401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Auto-detected per dataset: detection rate &gt;90% AND CV &lt;30th percentile. No external reference required for any species.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61360" y="3657600"/>
            <a:ext cx="2621280" cy="1188720"/>
          </a:xfrm>
          <a:prstGeom prst="rect">
            <a:avLst>
              <a:gd name="adj" fmla="val 30769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2" name="Shape 9"/>
          <p:cNvSpPr/>
          <p:nvPr/>
        </p:nvSpPr>
        <p:spPr>
          <a:xfrm>
            <a:off x="4175760" y="3657600"/>
            <a:ext cx="17068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3" name="Text 10"/>
          <p:cNvSpPr/>
          <p:nvPr/>
        </p:nvSpPr>
        <p:spPr>
          <a:xfrm>
            <a:off x="3371088" y="3703320"/>
            <a:ext cx="2401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71088" y="3886200"/>
            <a:ext cx="240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Gene Set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71088" y="4160520"/>
            <a:ext cx="2401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2,000 highly variable genes (HVGs; Seurat v3), excluding HK genes. Captures cell-type-specific programs.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019800" y="3657600"/>
            <a:ext cx="2621280" cy="1188720"/>
          </a:xfrm>
          <a:prstGeom prst="rect">
            <a:avLst>
              <a:gd name="adj" fmla="val 30769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Shape 14"/>
          <p:cNvSpPr/>
          <p:nvPr/>
        </p:nvSpPr>
        <p:spPr>
          <a:xfrm>
            <a:off x="6934200" y="3657600"/>
            <a:ext cx="170688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8" name="Text 15"/>
          <p:cNvSpPr/>
          <p:nvPr/>
        </p:nvSpPr>
        <p:spPr>
          <a:xfrm>
            <a:off x="6129528" y="3703320"/>
            <a:ext cx="2401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129528" y="3886200"/>
            <a:ext cx="2401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 Divergence Ratio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129528" y="4160520"/>
            <a:ext cx="2401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Jensen-Shannon divergence for both gene sets. Bootstrap N=1,000 for confidence intervals.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</a:rPr>
              <a:t>Automated Gene Set Detection</a:t>
            </a:r>
          </a:p>
          <a:p>
            <a:pPr algn="l"/>
            <a:r>
              <a:rPr sz="1200">
                <a:solidFill>
                  <a:srgbClr val="64748B"/>
                </a:solidFill>
              </a:rPr>
              <a:t>No manual gene list needed — fully data-driven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8404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840480" cy="4114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36576"/>
          <a:lstStyle/>
          <a:p>
            <a:pPr algn="l"/>
            <a:r>
              <a:rPr sz="1400" b="1">
                <a:solidFill>
                  <a:srgbClr val="FFFFFF"/>
                </a:solidFill>
              </a:rPr>
              <a:t>Housekeeping Genes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819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4748B"/>
                </a:solidFill>
              </a:rPr>
              <a:t>Stably expressed · Low variation · Across cell types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011679"/>
            <a:ext cx="164592" cy="164592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3337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059669"/>
                </a:solidFill>
              </a:rPr>
              <a:t>detection_rate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6712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00">
                <a:solidFill>
                  <a:srgbClr val="1E293B"/>
                </a:solidFill>
              </a:rPr>
              <a:t>Expressed in &gt; 90% of cells</a:t>
            </a:r>
          </a:p>
          <a:p>
            <a:pPr>
              <a:spcBef>
                <a:spcPts val="0"/>
              </a:spcBef>
            </a:pPr>
            <a:r>
              <a:rPr sz="800">
                <a:solidFill>
                  <a:srgbClr val="64748B"/>
                </a:solidFill>
              </a:rPr>
              <a:t>Default method (robust to noise)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724911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79191"/>
            <a:ext cx="3337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00">
                <a:solidFill>
                  <a:srgbClr val="1E293B"/>
                </a:solidFill>
              </a:rPr>
              <a:t>Coefficient of variation in lowest 30%</a:t>
            </a:r>
          </a:p>
          <a:p>
            <a:pPr>
              <a:spcBef>
                <a:spcPts val="0"/>
              </a:spcBef>
            </a:pPr>
            <a:r>
              <a:rPr sz="800">
                <a:solidFill>
                  <a:srgbClr val="64748B"/>
                </a:solidFill>
              </a:rPr>
              <a:t>Captures expression stability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" y="3438144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92424"/>
            <a:ext cx="3337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7C3AED"/>
                </a:solidFill>
              </a:rPr>
              <a:t>combined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593592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00">
                <a:solidFill>
                  <a:srgbClr val="1E293B"/>
                </a:solidFill>
              </a:rPr>
              <a:t>Both criteria simultaneously</a:t>
            </a:r>
          </a:p>
          <a:p>
            <a:pPr>
              <a:spcBef>
                <a:spcPts val="0"/>
              </a:spcBef>
            </a:pPr>
            <a:r>
              <a:rPr sz="800">
                <a:solidFill>
                  <a:srgbClr val="64748B"/>
                </a:solidFill>
              </a:rPr>
              <a:t>Highest stringency (default)</a:t>
            </a:r>
          </a:p>
        </p:txBody>
      </p:sp>
      <p:sp>
        <p:nvSpPr>
          <p:cNvPr id="15" name="Oval 14"/>
          <p:cNvSpPr/>
          <p:nvPr/>
        </p:nvSpPr>
        <p:spPr>
          <a:xfrm>
            <a:off x="594360" y="4151376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05656"/>
            <a:ext cx="3337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97706"/>
                </a:solidFill>
              </a:rPr>
              <a:t>HRT Atlas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06824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00">
                <a:solidFill>
                  <a:srgbClr val="1E293B"/>
                </a:solidFill>
              </a:rPr>
              <a:t>Built-in reference from 16 human tissues</a:t>
            </a:r>
          </a:p>
          <a:p>
            <a:pPr>
              <a:spcBef>
                <a:spcPts val="0"/>
              </a:spcBef>
            </a:pPr>
            <a:r>
              <a:rPr sz="800">
                <a:solidFill>
                  <a:srgbClr val="64748B"/>
                </a:solidFill>
              </a:rPr>
              <a:t>Union with detected set for completeness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00600"/>
            <a:ext cx="3657600" cy="32004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1">
                <a:solidFill>
                  <a:srgbClr val="64748B"/>
                </a:solidFill>
              </a:rPr>
              <a:t>→ Fully automatic; defaults: combined + HRT Atlas reference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097280"/>
            <a:ext cx="38404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1097280"/>
            <a:ext cx="3840480" cy="4114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36576"/>
          <a:lstStyle/>
          <a:p>
            <a:pPr algn="l"/>
            <a:r>
              <a:rPr sz="1400" b="1">
                <a:solidFill>
                  <a:srgbClr val="FFFFFF"/>
                </a:solidFill>
              </a:rPr>
              <a:t>Functional / Variable Genes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158191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i="1">
                <a:solidFill>
                  <a:srgbClr val="64748B"/>
                </a:solidFill>
              </a:rPr>
              <a:t>Highly variable · Distinguish cell types</a:t>
            </a:r>
          </a:p>
        </p:txBody>
      </p:sp>
      <p:sp>
        <p:nvSpPr>
          <p:cNvPr id="22" name="Oval 21"/>
          <p:cNvSpPr/>
          <p:nvPr/>
        </p:nvSpPr>
        <p:spPr>
          <a:xfrm>
            <a:off x="4709160" y="2011679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1965960"/>
            <a:ext cx="3337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C2626"/>
                </a:solidFill>
              </a:rPr>
              <a:t>hvg (default)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2167128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00">
                <a:solidFill>
                  <a:srgbClr val="1E293B"/>
                </a:solidFill>
              </a:rPr>
              <a:t>Scanpy highly variable genes</a:t>
            </a:r>
          </a:p>
          <a:p>
            <a:pPr>
              <a:spcBef>
                <a:spcPts val="0"/>
              </a:spcBef>
            </a:pPr>
            <a:r>
              <a:rPr sz="800">
                <a:solidFill>
                  <a:srgbClr val="64748B"/>
                </a:solidFill>
              </a:rPr>
              <a:t>Top 2,000 · Exclude HK genes
Captures biological variability</a:t>
            </a:r>
          </a:p>
        </p:txBody>
      </p:sp>
      <p:sp>
        <p:nvSpPr>
          <p:cNvPr id="25" name="Oval 24"/>
          <p:cNvSpPr/>
          <p:nvPr/>
        </p:nvSpPr>
        <p:spPr>
          <a:xfrm>
            <a:off x="4709160" y="2724911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2679191"/>
            <a:ext cx="3337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2563EB"/>
                </a:solidFill>
              </a:rPr>
              <a:t>markers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288036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800">
                <a:solidFill>
                  <a:srgbClr val="1E293B"/>
                </a:solidFill>
              </a:rPr>
              <a:t>Per-cluster differential expression</a:t>
            </a:r>
          </a:p>
          <a:p>
            <a:pPr>
              <a:spcBef>
                <a:spcPts val="0"/>
              </a:spcBef>
            </a:pPr>
            <a:r>
              <a:rPr sz="800">
                <a:solidFill>
                  <a:srgbClr val="64748B"/>
                </a:solidFill>
              </a:rPr>
              <a:t>Top marker genes per cluster
Alternative when clusters known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63440" y="4800600"/>
            <a:ext cx="3657600" cy="32004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1">
                <a:solidFill>
                  <a:srgbClr val="64748B"/>
                </a:solidFill>
              </a:rPr>
              <a:t>→ Auto-detected; defaults: hvg top 2,000 (excl. HK)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989320"/>
            <a:ext cx="8229600" cy="4572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Input (adata + species)  →  Auto-detect HK genes  →  Auto-detect functional genes  →  Compute CKI (Kn, Kf, ω)  —  All automated in cki.compute()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293B"/>
                </a:solidFill>
              </a:rPr>
              <a:t>Generalizing to Any Species</a:t>
            </a:r>
          </a:p>
          <a:p>
            <a:pPr algn="l"/>
            <a:r>
              <a:rPr sz="1100">
                <a:solidFill>
                  <a:srgbClr val="64748B"/>
                </a:solidFill>
              </a:rPr>
              <a:t>CKI is species-agnostic — all gene set detection is data-driven, no external reference required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56032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560320" cy="4023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Universal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545336"/>
            <a:ext cx="2414015" cy="2724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Housekeeping: detection_rate (&gt;90%) + CV (lowest 30%)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Functional: HVG top 2,000 (excl. HK genes)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Works for ANY species with RNA-seq data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No external gene lists or curation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4261103"/>
            <a:ext cx="2450591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/>
          <a:lstStyle/>
          <a:p>
            <a:pPr algn="ctr"/>
            <a:r>
              <a:rPr sz="700" b="1">
                <a:solidFill>
                  <a:srgbClr val="64748B"/>
                </a:solidFill>
              </a:rPr>
              <a:t>compute(adata, species="any")  →  fully automatic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097280"/>
            <a:ext cx="256032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6120" y="1097280"/>
            <a:ext cx="2560320" cy="40233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Human / Mouse Bonus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1545336"/>
            <a:ext cx="2414015" cy="2724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Built-in HRT Atlas (16 tissues, NAR 2021)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Union strategy: detected ∪ reference (use_reference=True)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Human &amp; mouse get reference boost automatically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Other species: purely data-driven, equally valid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00984" y="4261103"/>
            <a:ext cx="2450591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/>
          <a:lstStyle/>
          <a:p>
            <a:pPr algn="ctr"/>
            <a:r>
              <a:rPr sz="700" b="1">
                <a:solidFill>
                  <a:srgbClr val="64748B"/>
                </a:solidFill>
              </a:rPr>
              <a:t>compute(adata, species="human")  →  auto + HRT Atlas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097280"/>
            <a:ext cx="256032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2560320" cy="4023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Custom Species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1545336"/>
            <a:ext cx="2414015" cy="272491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Minimal input: species="zebrafish" → generic config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No special setup: species="any_name" → works immediately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Advanced: custom HK reference via reference_path parameter</a:t>
            </a:r>
          </a:p>
          <a:p>
            <a:pPr>
              <a:spcBef>
                <a:spcPts val="200"/>
              </a:spcBef>
            </a:pPr>
            <a:r>
              <a:rPr sz="800">
                <a:solidFill>
                  <a:srgbClr val="1E293B"/>
                </a:solidFill>
              </a:rPr>
              <a:t>Fully compatible with any organism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9903" y="4261103"/>
            <a:ext cx="2450591" cy="34747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18288"/>
          <a:lstStyle/>
          <a:p>
            <a:pPr algn="ctr"/>
            <a:r>
              <a:rPr sz="700" b="1">
                <a:solidFill>
                  <a:srgbClr val="64748B"/>
                </a:solidFill>
              </a:rPr>
              <a:t>compute(adata, species="your_species")  → 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compute(adata, species="any_species", groupby="cell_type", group_a="X", group_b="Y")  →  fully automatic CKI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Interpreting omega: A Continuous Scale of Cell Type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pic>
        <p:nvPicPr>
          <p:cNvPr id="5" name="Image 0" descr="C:\Users\KnightZ\Desktop\细胞受选择\results\figures_final\slides_svg\03_omega_sca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868680"/>
            <a:ext cx="813816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3749040"/>
            <a:ext cx="1828800" cy="868680"/>
          </a:xfrm>
          <a:prstGeom prst="rect">
            <a:avLst>
              <a:gd name="adj" fmla="val 42105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Shape 4"/>
          <p:cNvSpPr/>
          <p:nvPr/>
        </p:nvSpPr>
        <p:spPr>
          <a:xfrm>
            <a:off x="1417320" y="3749040"/>
            <a:ext cx="9144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8" name="Text 5"/>
          <p:cNvSpPr/>
          <p:nvPr/>
        </p:nvSpPr>
        <p:spPr>
          <a:xfrm>
            <a:off x="612648" y="38404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~ 1.16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2648" y="413308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cell type splits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2648" y="4471416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0.11 (Tabula Muris)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2468880" y="3749040"/>
            <a:ext cx="1828800" cy="868680"/>
          </a:xfrm>
          <a:prstGeom prst="rect">
            <a:avLst>
              <a:gd name="adj" fmla="val 42105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2" name="Shape 9"/>
          <p:cNvSpPr/>
          <p:nvPr/>
        </p:nvSpPr>
        <p:spPr>
          <a:xfrm>
            <a:off x="3383280" y="3749040"/>
            <a:ext cx="9144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3" name="Text 10"/>
          <p:cNvSpPr/>
          <p:nvPr/>
        </p:nvSpPr>
        <p:spPr>
          <a:xfrm>
            <a:off x="2578608" y="38404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~ 2.33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578608" y="413308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type, cross-organ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78608" y="4471416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e.g., T cells across organs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434840" y="3749040"/>
            <a:ext cx="1828800" cy="868680"/>
          </a:xfrm>
          <a:prstGeom prst="rect">
            <a:avLst>
              <a:gd name="adj" fmla="val 42105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Shape 14"/>
          <p:cNvSpPr/>
          <p:nvPr/>
        </p:nvSpPr>
        <p:spPr>
          <a:xfrm>
            <a:off x="5349240" y="3749040"/>
            <a:ext cx="9144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8" name="Text 15"/>
          <p:cNvSpPr/>
          <p:nvPr/>
        </p:nvSpPr>
        <p:spPr>
          <a:xfrm>
            <a:off x="4544568" y="38404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~ 5.71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44568" y="413308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types, same organ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44568" y="4471416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e.g., Lung cell types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6400800" y="3749040"/>
            <a:ext cx="1828800" cy="868680"/>
          </a:xfrm>
          <a:prstGeom prst="rect">
            <a:avLst>
              <a:gd name="adj" fmla="val 42105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Shape 19"/>
          <p:cNvSpPr/>
          <p:nvPr/>
        </p:nvSpPr>
        <p:spPr>
          <a:xfrm>
            <a:off x="7315200" y="3749040"/>
            <a:ext cx="9144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3" name="Text 20"/>
          <p:cNvSpPr/>
          <p:nvPr/>
        </p:nvSpPr>
        <p:spPr>
          <a:xfrm>
            <a:off x="6510528" y="38404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&gt;&gt; 10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510528" y="4133088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reprogramming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510528" y="4471416"/>
            <a:ext cx="16093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e.g., LIHC Grade 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 at a Glance: Key Numbers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2514600" cy="960120"/>
          </a:xfrm>
          <a:prstGeom prst="rect">
            <a:avLst>
              <a:gd name="adj" fmla="val 38095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1097280"/>
            <a:ext cx="16002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12648" y="118872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1,064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2648" y="1481328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Housekeeping genes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2648" y="1911096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Auto-detected: detection rate + CV filter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154680" y="1097280"/>
            <a:ext cx="2514600" cy="960120"/>
          </a:xfrm>
          <a:prstGeom prst="rect">
            <a:avLst>
              <a:gd name="adj" fmla="val 38095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1" name="Shape 9"/>
          <p:cNvSpPr/>
          <p:nvPr/>
        </p:nvSpPr>
        <p:spPr>
          <a:xfrm>
            <a:off x="4069080" y="1097280"/>
            <a:ext cx="1600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2" name="Text 10"/>
          <p:cNvSpPr/>
          <p:nvPr/>
        </p:nvSpPr>
        <p:spPr>
          <a:xfrm>
            <a:off x="3264408" y="118872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64408" y="1481328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genes per pair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64408" y="1911096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2,000 HVGs (Seurat v3), excluding HK genes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806440" y="1097280"/>
            <a:ext cx="2514600" cy="960120"/>
          </a:xfrm>
          <a:prstGeom prst="rect">
            <a:avLst>
              <a:gd name="adj" fmla="val 38095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6" name="Shape 14"/>
          <p:cNvSpPr/>
          <p:nvPr/>
        </p:nvSpPr>
        <p:spPr>
          <a:xfrm>
            <a:off x="6720840" y="1097280"/>
            <a:ext cx="16002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Text 15"/>
          <p:cNvSpPr/>
          <p:nvPr/>
        </p:nvSpPr>
        <p:spPr>
          <a:xfrm>
            <a:off x="5916168" y="118872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15,057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16168" y="1481328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Tabula Muris cells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16168" y="1911096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organs, 32 cell types (mouse)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02920" y="2331720"/>
            <a:ext cx="2514600" cy="960120"/>
          </a:xfrm>
          <a:prstGeom prst="rect">
            <a:avLst>
              <a:gd name="adj" fmla="val 38095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1" name="Shape 19"/>
          <p:cNvSpPr/>
          <p:nvPr/>
        </p:nvSpPr>
        <p:spPr>
          <a:xfrm>
            <a:off x="1417320" y="2331720"/>
            <a:ext cx="160020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Text 20"/>
          <p:cNvSpPr/>
          <p:nvPr/>
        </p:nvSpPr>
        <p:spPr>
          <a:xfrm>
            <a:off x="612648" y="24231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108,399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12648" y="2715768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Tabula Sapiens cells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" y="3145536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 cell types, 4,851 pairs (human)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154680" y="2331720"/>
            <a:ext cx="2514600" cy="960120"/>
          </a:xfrm>
          <a:prstGeom prst="rect">
            <a:avLst>
              <a:gd name="adj" fmla="val 38095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6" name="Shape 24"/>
          <p:cNvSpPr/>
          <p:nvPr/>
        </p:nvSpPr>
        <p:spPr>
          <a:xfrm>
            <a:off x="4069080" y="2331720"/>
            <a:ext cx="16002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7" name="Text 25"/>
          <p:cNvSpPr/>
          <p:nvPr/>
        </p:nvSpPr>
        <p:spPr>
          <a:xfrm>
            <a:off x="3264408" y="24231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10,535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64408" y="2715768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 samples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64408" y="3145536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cancer types, paired N/T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806440" y="2331720"/>
            <a:ext cx="2514600" cy="960120"/>
          </a:xfrm>
          <a:prstGeom prst="rect">
            <a:avLst>
              <a:gd name="adj" fmla="val 380952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1" name="Shape 29"/>
          <p:cNvSpPr/>
          <p:nvPr/>
        </p:nvSpPr>
        <p:spPr>
          <a:xfrm>
            <a:off x="6720840" y="2331720"/>
            <a:ext cx="1600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2" name="Text 30"/>
          <p:cNvSpPr/>
          <p:nvPr/>
        </p:nvSpPr>
        <p:spPr>
          <a:xfrm>
            <a:off x="5916168" y="2423160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888,263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916168" y="2715768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nuclei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16168" y="3145536"/>
            <a:ext cx="2295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 regions, human brain atlas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02920" y="3520440"/>
            <a:ext cx="8138160" cy="502920"/>
          </a:xfrm>
          <a:prstGeom prst="rect">
            <a:avLst>
              <a:gd name="adj" fmla="val 727273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6" name="Shape 34"/>
          <p:cNvSpPr/>
          <p:nvPr/>
        </p:nvSpPr>
        <p:spPr>
          <a:xfrm>
            <a:off x="1417320" y="3520440"/>
            <a:ext cx="7223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7" name="Text 35"/>
          <p:cNvSpPr/>
          <p:nvPr/>
        </p:nvSpPr>
        <p:spPr>
          <a:xfrm>
            <a:off x="685800" y="35204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N = 1,000   |   P &lt; 0.05 (one-tailed)   |   Bonferroni correction for multiple comparisons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4206240"/>
            <a:ext cx="8138160" cy="411480"/>
          </a:xfrm>
          <a:prstGeom prst="rect">
            <a:avLst>
              <a:gd name="adj" fmla="val 888889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9" name="Text 37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 is scalable: works on any pair of cell populations with expression data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Calibration: Tabula Muris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931920" cy="3108960"/>
          </a:xfrm>
          <a:prstGeom prst="rect">
            <a:avLst>
              <a:gd name="adj" fmla="val 117647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960120"/>
            <a:ext cx="301752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Cell-Type Split Test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CKI is valid, same cell-type comparisons should yield omega ~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9736" y="1737360"/>
            <a:ext cx="18288" cy="1188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0" name="Text 8"/>
          <p:cNvSpPr/>
          <p:nvPr/>
        </p:nvSpPr>
        <p:spPr>
          <a:xfrm>
            <a:off x="2103120" y="29443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2125980"/>
            <a:ext cx="404622" cy="68580"/>
          </a:xfrm>
          <a:prstGeom prst="rect">
            <a:avLst>
              <a:gd name="adj" fmla="val 1333333"/>
            </a:avLst>
          </a:prstGeom>
          <a:solidFill>
            <a:srgbClr val="93C5F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2" name="Shape 10"/>
          <p:cNvSpPr/>
          <p:nvPr/>
        </p:nvSpPr>
        <p:spPr>
          <a:xfrm>
            <a:off x="1200150" y="2011680"/>
            <a:ext cx="404622" cy="182880"/>
          </a:xfrm>
          <a:prstGeom prst="rect">
            <a:avLst>
              <a:gd name="adj" fmla="val 500000"/>
            </a:avLst>
          </a:prstGeom>
          <a:solidFill>
            <a:srgbClr val="93C5F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3" name="Shape 11"/>
          <p:cNvSpPr/>
          <p:nvPr/>
        </p:nvSpPr>
        <p:spPr>
          <a:xfrm>
            <a:off x="1623060" y="1897380"/>
            <a:ext cx="404622" cy="297180"/>
          </a:xfrm>
          <a:prstGeom prst="rect">
            <a:avLst>
              <a:gd name="adj" fmla="val 307692"/>
            </a:avLst>
          </a:prstGeom>
          <a:solidFill>
            <a:srgbClr val="FCD34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4" name="Shape 12"/>
          <p:cNvSpPr/>
          <p:nvPr/>
        </p:nvSpPr>
        <p:spPr>
          <a:xfrm>
            <a:off x="2045970" y="1737360"/>
            <a:ext cx="404622" cy="457200"/>
          </a:xfrm>
          <a:prstGeom prst="rect">
            <a:avLst>
              <a:gd name="adj" fmla="val 225989"/>
            </a:avLst>
          </a:prstGeom>
          <a:solidFill>
            <a:srgbClr val="FCD34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5" name="Shape 13"/>
          <p:cNvSpPr/>
          <p:nvPr/>
        </p:nvSpPr>
        <p:spPr>
          <a:xfrm>
            <a:off x="2468880" y="1805940"/>
            <a:ext cx="404622" cy="388620"/>
          </a:xfrm>
          <a:prstGeom prst="rect">
            <a:avLst>
              <a:gd name="adj" fmla="val 235294"/>
            </a:avLst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6" name="Shape 14"/>
          <p:cNvSpPr/>
          <p:nvPr/>
        </p:nvSpPr>
        <p:spPr>
          <a:xfrm>
            <a:off x="2891790" y="1943100"/>
            <a:ext cx="404622" cy="251460"/>
          </a:xfrm>
          <a:prstGeom prst="rect">
            <a:avLst>
              <a:gd name="adj" fmla="val 363636"/>
            </a:avLst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Shape 15"/>
          <p:cNvSpPr/>
          <p:nvPr/>
        </p:nvSpPr>
        <p:spPr>
          <a:xfrm>
            <a:off x="3314700" y="2057400"/>
            <a:ext cx="404622" cy="137160"/>
          </a:xfrm>
          <a:prstGeom prst="rect">
            <a:avLst>
              <a:gd name="adj" fmla="val 666667"/>
            </a:avLst>
          </a:prstGeom>
          <a:solidFill>
            <a:srgbClr val="FCD34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8" name="Shape 16"/>
          <p:cNvSpPr/>
          <p:nvPr/>
        </p:nvSpPr>
        <p:spPr>
          <a:xfrm>
            <a:off x="3737610" y="2139696"/>
            <a:ext cx="404622" cy="54864"/>
          </a:xfrm>
          <a:prstGeom prst="rect">
            <a:avLst>
              <a:gd name="adj" fmla="val 1666667"/>
            </a:avLst>
          </a:prstGeom>
          <a:solidFill>
            <a:srgbClr val="FCD34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9" name="Shape 17"/>
          <p:cNvSpPr/>
          <p:nvPr/>
        </p:nvSpPr>
        <p:spPr>
          <a:xfrm>
            <a:off x="685800" y="2468880"/>
            <a:ext cx="3566160" cy="411480"/>
          </a:xfrm>
          <a:prstGeom prst="rect">
            <a:avLst>
              <a:gd name="adj" fmla="val 888889"/>
            </a:avLst>
          </a:prstGeom>
          <a:solidFill>
            <a:srgbClr val="F0FDFA"/>
          </a:solidFill>
          <a:ln w="12700">
            <a:solidFill>
              <a:srgbClr val="0D9488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0" name="Text 18"/>
          <p:cNvSpPr/>
          <p:nvPr/>
        </p:nvSpPr>
        <p:spPr>
          <a:xfrm>
            <a:off x="685800" y="24688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omega_mean = 1.16    P = 0.11    Not significantly different from 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960120"/>
            <a:ext cx="4023360" cy="3108960"/>
          </a:xfrm>
          <a:prstGeom prst="rect">
            <a:avLst>
              <a:gd name="adj" fmla="val 117647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Shape 20"/>
          <p:cNvSpPr/>
          <p:nvPr/>
        </p:nvSpPr>
        <p:spPr>
          <a:xfrm>
            <a:off x="5532120" y="960120"/>
            <a:ext cx="31089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3" name="Text 21"/>
          <p:cNvSpPr/>
          <p:nvPr/>
        </p:nvSpPr>
        <p:spPr>
          <a:xfrm>
            <a:off x="48006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Cross-Category k_n vs k_f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15087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cell type (C)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1728216"/>
            <a:ext cx="268224" cy="118872"/>
          </a:xfrm>
          <a:prstGeom prst="rect">
            <a:avLst>
              <a:gd name="adj" fmla="val 1538462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6" name="Text 24"/>
          <p:cNvSpPr/>
          <p:nvPr/>
        </p:nvSpPr>
        <p:spPr>
          <a:xfrm>
            <a:off x="6531864" y="172821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k_n: 12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6217920" y="1883664"/>
            <a:ext cx="312928" cy="118872"/>
          </a:xfrm>
          <a:prstGeom prst="rect">
            <a:avLst>
              <a:gd name="adj" fmla="val 1538462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8" name="Text 26"/>
          <p:cNvSpPr/>
          <p:nvPr/>
        </p:nvSpPr>
        <p:spPr>
          <a:xfrm>
            <a:off x="6576568" y="188366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k_f: 14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4800600" y="21945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sub, diff organ (S)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2414016"/>
            <a:ext cx="402336" cy="118872"/>
          </a:xfrm>
          <a:prstGeom prst="rect">
            <a:avLst>
              <a:gd name="adj" fmla="val 1538462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1" name="Text 29"/>
          <p:cNvSpPr/>
          <p:nvPr/>
        </p:nvSpPr>
        <p:spPr>
          <a:xfrm>
            <a:off x="6665976" y="241401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k_n: 18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6217920" y="2569464"/>
            <a:ext cx="715264" cy="118872"/>
          </a:xfrm>
          <a:prstGeom prst="rect">
            <a:avLst>
              <a:gd name="adj" fmla="val 1538462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3" name="Text 31"/>
          <p:cNvSpPr/>
          <p:nvPr/>
        </p:nvSpPr>
        <p:spPr>
          <a:xfrm>
            <a:off x="6978904" y="256946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k_f: 32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800600" y="2880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sub, same organ (D)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3099816"/>
            <a:ext cx="335280" cy="118872"/>
          </a:xfrm>
          <a:prstGeom prst="rect">
            <a:avLst>
              <a:gd name="adj" fmla="val 1538462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6" name="Text 34"/>
          <p:cNvSpPr/>
          <p:nvPr/>
        </p:nvSpPr>
        <p:spPr>
          <a:xfrm>
            <a:off x="6598920" y="309981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k_n: 15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6217920" y="3255264"/>
            <a:ext cx="1229360" cy="118872"/>
          </a:xfrm>
          <a:prstGeom prst="rect">
            <a:avLst>
              <a:gd name="adj" fmla="val 1538462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8" name="Text 36"/>
          <p:cNvSpPr/>
          <p:nvPr/>
        </p:nvSpPr>
        <p:spPr>
          <a:xfrm>
            <a:off x="7493000" y="325526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k_f: 55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800600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Cross-organ (X)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785616"/>
            <a:ext cx="491744" cy="118872"/>
          </a:xfrm>
          <a:prstGeom prst="rect">
            <a:avLst>
              <a:gd name="adj" fmla="val 1538462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1" name="Text 39"/>
          <p:cNvSpPr/>
          <p:nvPr/>
        </p:nvSpPr>
        <p:spPr>
          <a:xfrm>
            <a:off x="6755384" y="3785616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k_n: 22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6217920" y="3941064"/>
            <a:ext cx="1743456" cy="118872"/>
          </a:xfrm>
          <a:prstGeom prst="rect">
            <a:avLst>
              <a:gd name="adj" fmla="val 1538462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3" name="Text 41"/>
          <p:cNvSpPr/>
          <p:nvPr/>
        </p:nvSpPr>
        <p:spPr>
          <a:xfrm>
            <a:off x="8007096" y="3941064"/>
            <a:ext cx="914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6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k_f: 78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4800600" y="4160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k_n (JS-HK)   ■ k_f (JS-Identity)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 Is Orthogonal to Existing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931920" cy="2011680"/>
          </a:xfrm>
          <a:prstGeom prst="rect">
            <a:avLst>
              <a:gd name="adj" fmla="val 18181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960120"/>
            <a:ext cx="301752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 |r| with Standard Metrics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1720" y="1481328"/>
            <a:ext cx="1417320" cy="146304"/>
          </a:xfrm>
          <a:prstGeom prst="rect">
            <a:avLst>
              <a:gd name="adj" fmla="val 1250000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0" name="Text 8"/>
          <p:cNvSpPr/>
          <p:nvPr/>
        </p:nvSpPr>
        <p:spPr>
          <a:xfrm>
            <a:off x="3794760" y="14630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Euclidean distance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31720" y="1847088"/>
            <a:ext cx="1005840" cy="146304"/>
          </a:xfrm>
          <a:prstGeom prst="rect">
            <a:avLst>
              <a:gd name="adj" fmla="val 1250000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3" name="Text 11"/>
          <p:cNvSpPr/>
          <p:nvPr/>
        </p:nvSpPr>
        <p:spPr>
          <a:xfrm>
            <a:off x="3383280" y="1828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1945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Pearson correlation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31720" y="2212848"/>
            <a:ext cx="640080" cy="146304"/>
          </a:xfrm>
          <a:prstGeom prst="rect">
            <a:avLst>
              <a:gd name="adj" fmla="val 1250000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6" name="Text 14"/>
          <p:cNvSpPr/>
          <p:nvPr/>
        </p:nvSpPr>
        <p:spPr>
          <a:xfrm>
            <a:off x="3017520" y="21945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" y="25603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 gene overlap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31720" y="2578608"/>
            <a:ext cx="365760" cy="146304"/>
          </a:xfrm>
          <a:prstGeom prst="rect">
            <a:avLst>
              <a:gd name="adj" fmla="val 1250000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9" name="Text 17"/>
          <p:cNvSpPr/>
          <p:nvPr/>
        </p:nvSpPr>
        <p:spPr>
          <a:xfrm>
            <a:off x="2743200" y="2560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27432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|r| &lt; 0.31: CKI captures distinct information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960120"/>
            <a:ext cx="4023360" cy="2011680"/>
          </a:xfrm>
          <a:prstGeom prst="rect">
            <a:avLst>
              <a:gd name="adj" fmla="val 18181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Shape 20"/>
          <p:cNvSpPr/>
          <p:nvPr/>
        </p:nvSpPr>
        <p:spPr>
          <a:xfrm>
            <a:off x="5532120" y="960120"/>
            <a:ext cx="310896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3" name="Text 21"/>
          <p:cNvSpPr/>
          <p:nvPr/>
        </p:nvSpPr>
        <p:spPr>
          <a:xfrm>
            <a:off x="48006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Cross-Organ Discrimination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1280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Same-organ vs different-organ cell type pairs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1554480"/>
            <a:ext cx="3657600" cy="502920"/>
          </a:xfrm>
          <a:prstGeom prst="rect">
            <a:avLst>
              <a:gd name="adj" fmla="val 727273"/>
            </a:avLst>
          </a:prstGeom>
          <a:solidFill>
            <a:srgbClr val="F0FDFA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6" name="Text 24"/>
          <p:cNvSpPr/>
          <p:nvPr/>
        </p:nvSpPr>
        <p:spPr>
          <a:xfrm>
            <a:off x="525780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= 0.680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800600" y="1874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 is not a classifier; moderate AUC confirms it detects perturbation, not just separation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66360" y="2148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Organ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12280" y="21488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Organ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349240" y="2377440"/>
            <a:ext cx="914400" cy="365760"/>
          </a:xfrm>
          <a:prstGeom prst="rect">
            <a:avLst>
              <a:gd name="adj" fmla="val 857143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1" name="Shape 29"/>
          <p:cNvSpPr/>
          <p:nvPr/>
        </p:nvSpPr>
        <p:spPr>
          <a:xfrm>
            <a:off x="6995160" y="2377440"/>
            <a:ext cx="914400" cy="365760"/>
          </a:xfrm>
          <a:prstGeom prst="rect">
            <a:avLst>
              <a:gd name="adj" fmla="val 545455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2" name="Text 30"/>
          <p:cNvSpPr/>
          <p:nvPr/>
        </p:nvSpPr>
        <p:spPr>
          <a:xfrm>
            <a:off x="5349240" y="27889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 b="1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~ 3.2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995160" y="27889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dirty="0" b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~ 8.1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" y="3200400"/>
            <a:ext cx="8138160" cy="1234440"/>
          </a:xfrm>
          <a:prstGeom prst="rect">
            <a:avLst>
              <a:gd name="adj" fmla="val 296296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5" name="Shape 33"/>
          <p:cNvSpPr/>
          <p:nvPr/>
        </p:nvSpPr>
        <p:spPr>
          <a:xfrm>
            <a:off x="1417320" y="3200400"/>
            <a:ext cx="7223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6" name="Text 34"/>
          <p:cNvSpPr/>
          <p:nvPr/>
        </p:nvSpPr>
        <p:spPr>
          <a:xfrm>
            <a:off x="68580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Cross-Species Conservation (Mouse → Human Ranking)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77240" y="361188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Cell-type omega rankings are significantly conserved between mouse (Tabula Muris) and human (Tabula Sapiens).</a:t>
            </a:r>
            <a:endParaRPr lang="en-US" sz="10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cells (T, B, macrophages) show the strongest cross-species conservation of omega ordering.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" y="4160520"/>
            <a:ext cx="7589520" cy="2743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Enrichment Validates CKI Biology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2926080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960120"/>
            <a:ext cx="722376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Enriched Pathways (k_n vs k_f, Tabula Muris)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447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Ribosome / Translation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71800" y="1481328"/>
            <a:ext cx="3300984" cy="155448"/>
          </a:xfrm>
          <a:prstGeom prst="rect">
            <a:avLst>
              <a:gd name="adj" fmla="val 1176471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0" name="Text 8"/>
          <p:cNvSpPr/>
          <p:nvPr/>
        </p:nvSpPr>
        <p:spPr>
          <a:xfrm>
            <a:off x="6318504" y="144475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Oxidative Phosphorylation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71800" y="1773936"/>
            <a:ext cx="3057754" cy="155448"/>
          </a:xfrm>
          <a:prstGeom prst="rect">
            <a:avLst>
              <a:gd name="adj" fmla="val 1176471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3" name="Text 11"/>
          <p:cNvSpPr/>
          <p:nvPr/>
        </p:nvSpPr>
        <p:spPr>
          <a:xfrm>
            <a:off x="6075274" y="17373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85800" y="20299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Proteasome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71800" y="2066544"/>
            <a:ext cx="2849270" cy="155448"/>
          </a:xfrm>
          <a:prstGeom prst="rect">
            <a:avLst>
              <a:gd name="adj" fmla="val 1176471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6" name="Text 14"/>
          <p:cNvSpPr/>
          <p:nvPr/>
        </p:nvSpPr>
        <p:spPr>
          <a:xfrm>
            <a:off x="5866790" y="20299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5800" y="23225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Spliceosome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71800" y="2359152"/>
            <a:ext cx="2606040" cy="155448"/>
          </a:xfrm>
          <a:prstGeom prst="rect">
            <a:avLst>
              <a:gd name="adj" fmla="val 1176471"/>
            </a:avLst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9" name="Text 17"/>
          <p:cNvSpPr/>
          <p:nvPr/>
        </p:nvSpPr>
        <p:spPr>
          <a:xfrm>
            <a:off x="5623560" y="2322576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85800" y="26151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Cycle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971800" y="2651760"/>
            <a:ext cx="2432304" cy="155448"/>
          </a:xfrm>
          <a:prstGeom prst="rect">
            <a:avLst>
              <a:gd name="adj" fmla="val 1176471"/>
            </a:avLst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Text 20"/>
          <p:cNvSpPr/>
          <p:nvPr/>
        </p:nvSpPr>
        <p:spPr>
          <a:xfrm>
            <a:off x="5449824" y="26151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" y="29077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ECM-receptor interaction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971800" y="2944368"/>
            <a:ext cx="2258568" cy="155448"/>
          </a:xfrm>
          <a:prstGeom prst="rect">
            <a:avLst>
              <a:gd name="adj" fmla="val 1176471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5" name="Text 23"/>
          <p:cNvSpPr/>
          <p:nvPr/>
        </p:nvSpPr>
        <p:spPr>
          <a:xfrm>
            <a:off x="5276088" y="29077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PI3K-Akt signaling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971800" y="3236976"/>
            <a:ext cx="1911096" cy="155448"/>
          </a:xfrm>
          <a:prstGeom prst="rect">
            <a:avLst>
              <a:gd name="adj" fmla="val 1176471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8" name="Text 26"/>
          <p:cNvSpPr/>
          <p:nvPr/>
        </p:nvSpPr>
        <p:spPr>
          <a:xfrm>
            <a:off x="4928616" y="32004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" y="34930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Focal adhesion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971800" y="3529584"/>
            <a:ext cx="1667866" cy="155448"/>
          </a:xfrm>
          <a:prstGeom prst="rect">
            <a:avLst>
              <a:gd name="adj" fmla="val 1176471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1" name="Text 29"/>
          <p:cNvSpPr/>
          <p:nvPr/>
        </p:nvSpPr>
        <p:spPr>
          <a:xfrm>
            <a:off x="4685386" y="34930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8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02920" y="4069080"/>
            <a:ext cx="3931920" cy="914400"/>
          </a:xfrm>
          <a:prstGeom prst="rect">
            <a:avLst>
              <a:gd name="adj" fmla="val 400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3" name="Shape 31"/>
          <p:cNvSpPr/>
          <p:nvPr/>
        </p:nvSpPr>
        <p:spPr>
          <a:xfrm>
            <a:off x="1417320" y="4069080"/>
            <a:ext cx="301752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4" name="Text 32"/>
          <p:cNvSpPr/>
          <p:nvPr/>
        </p:nvSpPr>
        <p:spPr>
          <a:xfrm>
            <a:off x="685800" y="4114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k_n-enriched (Housekeeping)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" y="4389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Ribosome, OXPHOS, Proteasome</a:t>
            </a:r>
            <a:endParaRPr lang="en-US" sz="10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Constitutively active, essential for survival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4069080"/>
            <a:ext cx="4023360" cy="914400"/>
          </a:xfrm>
          <a:prstGeom prst="rect">
            <a:avLst>
              <a:gd name="adj" fmla="val 400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7" name="Shape 35"/>
          <p:cNvSpPr/>
          <p:nvPr/>
        </p:nvSpPr>
        <p:spPr>
          <a:xfrm>
            <a:off x="5532120" y="4069080"/>
            <a:ext cx="310896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8" name="Text 36"/>
          <p:cNvSpPr/>
          <p:nvPr/>
        </p:nvSpPr>
        <p:spPr>
          <a:xfrm>
            <a:off x="48006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k_f-enriched (Identity)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00600" y="4389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ECM, PI3K-Akt, Focal adhesion</a:t>
            </a:r>
            <a:endParaRPr lang="en-US" sz="10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Cell-type-specific programs, tissue identity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Paradox: Tumors Are More Homogeneous Than Normal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138160" cy="2286000"/>
          </a:xfrm>
          <a:prstGeom prst="rect">
            <a:avLst>
              <a:gd name="adj" fmla="val 160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960120"/>
            <a:ext cx="722376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NN/TT omega Ratio Across 5 Cancer Types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29844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NN = Normal-vs-Normal within-patient   |   TT = Tumor-vs-Tumor within-patient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" y="16276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LUSC (Lung SCC)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655064"/>
            <a:ext cx="3762103" cy="164592"/>
          </a:xfrm>
          <a:prstGeom prst="rect">
            <a:avLst>
              <a:gd name="adj" fmla="val 1111111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1" name="Text 9"/>
          <p:cNvSpPr/>
          <p:nvPr/>
        </p:nvSpPr>
        <p:spPr>
          <a:xfrm>
            <a:off x="6413863" y="162763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192024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LUAD (Lung Adeno)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947672"/>
            <a:ext cx="3511296" cy="164592"/>
          </a:xfrm>
          <a:prstGeom prst="rect">
            <a:avLst>
              <a:gd name="adj" fmla="val 1111111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4" name="Text 12"/>
          <p:cNvSpPr/>
          <p:nvPr/>
        </p:nvSpPr>
        <p:spPr>
          <a:xfrm>
            <a:off x="6163056" y="1920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21284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KIRC (Kidney)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2240280"/>
            <a:ext cx="2633472" cy="164592"/>
          </a:xfrm>
          <a:prstGeom prst="rect">
            <a:avLst>
              <a:gd name="adj" fmla="val 1111111"/>
            </a:avLst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Text 15"/>
          <p:cNvSpPr/>
          <p:nvPr/>
        </p:nvSpPr>
        <p:spPr>
          <a:xfrm>
            <a:off x="5285232" y="22128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2.1x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50545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 (Breast)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2532888"/>
            <a:ext cx="2257262" cy="164592"/>
          </a:xfrm>
          <a:prstGeom prst="rect">
            <a:avLst>
              <a:gd name="adj" fmla="val 1111111"/>
            </a:avLst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0" name="Text 18"/>
          <p:cNvSpPr/>
          <p:nvPr/>
        </p:nvSpPr>
        <p:spPr>
          <a:xfrm>
            <a:off x="4909022" y="250545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" y="2798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LIHC (Liver)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2825496"/>
            <a:ext cx="2006455" cy="164592"/>
          </a:xfrm>
          <a:prstGeom prst="rect">
            <a:avLst>
              <a:gd name="adj" fmla="val 1111111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3" name="Text 21"/>
          <p:cNvSpPr/>
          <p:nvPr/>
        </p:nvSpPr>
        <p:spPr>
          <a:xfrm>
            <a:off x="4658215" y="27980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3090672"/>
            <a:ext cx="18288" cy="133502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5" name="Text 23"/>
          <p:cNvSpPr/>
          <p:nvPr/>
        </p:nvSpPr>
        <p:spPr>
          <a:xfrm>
            <a:off x="2331720" y="31363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if NN = TT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02920" y="3429000"/>
            <a:ext cx="8138160" cy="1371600"/>
          </a:xfrm>
          <a:prstGeom prst="rect">
            <a:avLst>
              <a:gd name="adj" fmla="val 266667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7" name="Shape 25"/>
          <p:cNvSpPr/>
          <p:nvPr/>
        </p:nvSpPr>
        <p:spPr>
          <a:xfrm>
            <a:off x="1417320" y="3429000"/>
            <a:ext cx="722376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8" name="Text 26"/>
          <p:cNvSpPr/>
          <p:nvPr/>
        </p:nvSpPr>
        <p:spPr>
          <a:xfrm>
            <a:off x="685800" y="3520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The Cancer Paradox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77240" y="384048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 cancers show NN/TT &gt; 1: Normal tissues are more transcriptionally heterogeneous than tumors.</a:t>
            </a:r>
            <a:endParaRPr lang="en-US" sz="10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contradicts the intuitive expectation that cancer = more heterogeneity.</a:t>
            </a:r>
            <a:endParaRPr lang="en-US" sz="1000" dirty="0"/>
          </a:p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 provides a quantitative lens to measure this counter-intuitive phenomenon.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Deep Dive: Grading &amp; Subtyping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3931920" cy="2926080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960120"/>
            <a:ext cx="301752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85800" y="1051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LIHC: omega Increases with Tumor Grade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1481328"/>
            <a:ext cx="548640" cy="164592"/>
          </a:xfrm>
          <a:prstGeom prst="rect">
            <a:avLst>
              <a:gd name="adj" fmla="val 1111111"/>
            </a:avLst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0" name="Text 8"/>
          <p:cNvSpPr/>
          <p:nvPr/>
        </p:nvSpPr>
        <p:spPr>
          <a:xfrm>
            <a:off x="2286000" y="1463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12.4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691640" y="2029968"/>
            <a:ext cx="731520" cy="164592"/>
          </a:xfrm>
          <a:prstGeom prst="rect">
            <a:avLst>
              <a:gd name="adj" fmla="val 1111111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3" name="Text 11"/>
          <p:cNvSpPr/>
          <p:nvPr/>
        </p:nvSpPr>
        <p:spPr>
          <a:xfrm>
            <a:off x="2468880" y="20116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13.8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5603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91640" y="2578608"/>
            <a:ext cx="1188720" cy="164592"/>
          </a:xfrm>
          <a:prstGeom prst="rect">
            <a:avLst>
              <a:gd name="adj" fmla="val 1111111"/>
            </a:avLst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6" name="Text 14"/>
          <p:cNvSpPr/>
          <p:nvPr/>
        </p:nvSpPr>
        <p:spPr>
          <a:xfrm>
            <a:off x="2926080" y="25603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18.6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1089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691640" y="3127248"/>
            <a:ext cx="1737360" cy="164592"/>
          </a:xfrm>
          <a:prstGeom prst="rect">
            <a:avLst>
              <a:gd name="adj" fmla="val 1111111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9" name="Text 17"/>
          <p:cNvSpPr/>
          <p:nvPr/>
        </p:nvSpPr>
        <p:spPr>
          <a:xfrm>
            <a:off x="3474720" y="3108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24.8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3611880"/>
            <a:ext cx="3383280" cy="274320"/>
          </a:xfrm>
          <a:prstGeom prst="rect">
            <a:avLst>
              <a:gd name="adj" fmla="val 1333333"/>
            </a:avLst>
          </a:prstGeom>
          <a:solidFill>
            <a:srgbClr val="FEF2F2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1" name="Text 19"/>
          <p:cNvSpPr/>
          <p:nvPr/>
        </p:nvSpPr>
        <p:spPr>
          <a:xfrm>
            <a:off x="777240" y="3611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= 0.003 (Jonckheere-Terpstra trend test)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960120"/>
            <a:ext cx="4023360" cy="2926080"/>
          </a:xfrm>
          <a:prstGeom prst="rect">
            <a:avLst>
              <a:gd name="adj" fmla="val 125000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3" name="Shape 21"/>
          <p:cNvSpPr/>
          <p:nvPr/>
        </p:nvSpPr>
        <p:spPr>
          <a:xfrm>
            <a:off x="5532120" y="960120"/>
            <a:ext cx="310896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4" name="Text 22"/>
          <p:cNvSpPr/>
          <p:nvPr/>
        </p:nvSpPr>
        <p:spPr>
          <a:xfrm>
            <a:off x="480060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BRCA: PAM50 Subtypes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1463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Luminal 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55080" y="1490472"/>
            <a:ext cx="508919" cy="164592"/>
          </a:xfrm>
          <a:prstGeom prst="rect">
            <a:avLst>
              <a:gd name="adj" fmla="val 1250000"/>
            </a:avLst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7" name="Text 25"/>
          <p:cNvSpPr/>
          <p:nvPr/>
        </p:nvSpPr>
        <p:spPr>
          <a:xfrm>
            <a:off x="7772400" y="14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8.2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1863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Luminal 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55080" y="1890472"/>
            <a:ext cx="651665" cy="164592"/>
          </a:xfrm>
          <a:prstGeom prst="rect">
            <a:avLst>
              <a:gd name="adj" fmla="val 1250000"/>
            </a:avLst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0" name="Text 28"/>
          <p:cNvSpPr/>
          <p:nvPr/>
        </p:nvSpPr>
        <p:spPr>
          <a:xfrm>
            <a:off x="7772400" y="18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10.5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00600" y="2263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HER2-enriched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355080" y="2290472"/>
            <a:ext cx="949569" cy="164592"/>
          </a:xfrm>
          <a:prstGeom prst="rect">
            <a:avLst>
              <a:gd name="adj" fmla="val 1250000"/>
            </a:avLst>
          </a:prstGeom>
          <a:solidFill>
            <a:srgbClr val="7C3AED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3" name="Text 31"/>
          <p:cNvSpPr/>
          <p:nvPr/>
        </p:nvSpPr>
        <p:spPr>
          <a:xfrm>
            <a:off x="7772400" y="22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15.3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2663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Basal-like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55080" y="2690472"/>
            <a:ext cx="1371600" cy="164592"/>
          </a:xfrm>
          <a:prstGeom prst="rect">
            <a:avLst>
              <a:gd name="adj" fmla="val 1250000"/>
            </a:avLst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6" name="Text 34"/>
          <p:cNvSpPr/>
          <p:nvPr/>
        </p:nvSpPr>
        <p:spPr>
          <a:xfrm>
            <a:off x="7772400" y="26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22.1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00600" y="3063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Normal-like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55080" y="3090472"/>
            <a:ext cx="422030" cy="164592"/>
          </a:xfrm>
          <a:prstGeom prst="rect">
            <a:avLst>
              <a:gd name="adj" fmla="val 1250000"/>
            </a:avLst>
          </a:prstGeom>
          <a:solidFill>
            <a:srgbClr val="059669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9" name="Text 37"/>
          <p:cNvSpPr/>
          <p:nvPr/>
        </p:nvSpPr>
        <p:spPr>
          <a:xfrm>
            <a:off x="7772400" y="30630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omega = 6.8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3460000"/>
            <a:ext cx="3657600" cy="320000"/>
          </a:xfrm>
          <a:prstGeom prst="rect">
            <a:avLst>
              <a:gd name="adj" fmla="val 1333333"/>
            </a:avLst>
          </a:prstGeom>
          <a:solidFill>
            <a:srgbClr val="F5F3FF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41" name="Text 39"/>
          <p:cNvSpPr/>
          <p:nvPr/>
        </p:nvSpPr>
        <p:spPr>
          <a:xfrm>
            <a:off x="4800600" y="3496576"/>
            <a:ext cx="3657600" cy="2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Basal-like &gt; Luminal: more aggressive = higher omega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TextBox 0"/>
          <p:cNvSpPr txBox="1"/>
          <p:nvPr/>
        </p:nvSpPr>
        <p:spPr>
          <a:xfrm>
            <a:off x="457200" y="91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E293B"/>
                </a:solidFill>
              </a:rPr>
              <a:t>Brain Regional CKI: A 7.6-fold omega Gradient</a:t>
            </a:r>
          </a:p>
          <a:p>
            <a:r>
              <a:rPr sz="1000">
                <a:solidFill>
                  <a:srgbClr val="64748B"/>
                </a:solidFill>
              </a:rPr>
              <a:t>Cell class omega values across 108 human brain regions (CIBR dataset)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77724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1">
                <a:solidFill>
                  <a:srgbClr val="1E293B"/>
                </a:solidFill>
              </a:rPr>
              <a:t>Astrocyte</a:t>
            </a:r>
          </a:p>
        </p:txBody>
      </p:sp>
      <p:sp>
        <p:nvSpPr>
          <p:cNvPr id="3" name="Rectangle 2"/>
          <p:cNvSpPr/>
          <p:nvPr/>
        </p:nvSpPr>
        <p:spPr>
          <a:xfrm>
            <a:off x="1965960" y="777240"/>
            <a:ext cx="3017520" cy="30175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56631" y="77724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121.8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OPC</a:t>
            </a:r>
          </a:p>
        </p:txBody>
      </p:sp>
      <p:sp>
        <p:nvSpPr>
          <p:cNvPr id="6" name="Rectangle 5"/>
          <p:cNvSpPr/>
          <p:nvPr/>
        </p:nvSpPr>
        <p:spPr>
          <a:xfrm>
            <a:off x="1965960" y="1143000"/>
            <a:ext cx="1373334" cy="3017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2446" y="114300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55.4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Choroid plexus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508760"/>
            <a:ext cx="1126768" cy="3017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65880" y="150876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45.5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2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Oligodendrocyte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65960" y="1874520"/>
            <a:ext cx="1111900" cy="3017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1012" y="187452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44.9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24028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COP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40280"/>
            <a:ext cx="991962" cy="3017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31074" y="224028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40.0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0604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Ependymal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2606040"/>
            <a:ext cx="979572" cy="3017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8684" y="260604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39.5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97180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Microglia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2971800"/>
            <a:ext cx="876485" cy="3017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15597" y="297180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35.4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33756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Fibroblast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65960" y="3337560"/>
            <a:ext cx="629672" cy="3017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68784" y="333756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25.4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70332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0">
                <a:solidFill>
                  <a:srgbClr val="1E293B"/>
                </a:solidFill>
              </a:rPr>
              <a:t>Vascular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65960" y="3703320"/>
            <a:ext cx="533771" cy="3017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72883" y="370332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0">
                <a:solidFill>
                  <a:srgbClr val="1E293B"/>
                </a:solidFill>
              </a:rPr>
              <a:t>21.5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069080"/>
            <a:ext cx="146304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pPr algn="r"/>
            <a:r>
              <a:rPr sz="900" b="1">
                <a:solidFill>
                  <a:srgbClr val="1E293B"/>
                </a:solidFill>
              </a:rPr>
              <a:t>Bergmann glia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65960" y="4069080"/>
            <a:ext cx="395744" cy="3017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34856" y="4069080"/>
            <a:ext cx="594360" cy="301752"/>
          </a:xfrm>
          <a:prstGeom prst="rect">
            <a:avLst/>
          </a:prstGeom>
          <a:noFill/>
        </p:spPr>
        <p:txBody>
          <a:bodyPr wrap="none" tIns="36576">
            <a:spAutoFit/>
          </a:bodyPr>
          <a:lstStyle/>
          <a:p>
            <a:r>
              <a:rPr sz="900" b="1">
                <a:solidFill>
                  <a:srgbClr val="1E293B"/>
                </a:solidFill>
              </a:rPr>
              <a:t>16.0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572000"/>
            <a:ext cx="5852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DC2626"/>
                </a:solidFill>
              </a:rPr>
              <a:t>121.8 / 16.0 = 7.6x gradient across cell classes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0" y="777240"/>
            <a:ext cx="39319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0" y="85039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D4ED8"/>
                </a:solidFill>
              </a:rPr>
              <a:t>What the Gradient Tells 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1124712"/>
            <a:ext cx="292608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1E293B"/>
                </a:solidFill>
              </a:rPr>
              <a:t>  Astrocytes show highest omega: most context-dependent identity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E293B"/>
                </a:solidFill>
              </a:rPr>
              <a:t>  Bergmann glia lowest: stable, region-uniform identity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E293B"/>
                </a:solidFill>
              </a:rPr>
              <a:t>  Non-neuronal cells span the full gradient range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E293B"/>
                </a:solidFill>
              </a:rPr>
              <a:t>  Gradient reflects cellular plasticity hierarchy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54880" y="2313432"/>
            <a:ext cx="39319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760720" y="2313432"/>
            <a:ext cx="2926080" cy="3200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/>
            <a:r>
              <a:rPr sz="1100" b="1">
                <a:solidFill>
                  <a:srgbClr val="FFFFFF"/>
                </a:solidFill>
              </a:rPr>
              <a:t>Key Insight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697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900">
                <a:solidFill>
                  <a:srgbClr val="1E293B"/>
                </a:solidFill>
              </a:rPr>
              <a:t>Glial cells are not 'generic support cells' — they show the highest regional specialisation.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1E293B"/>
                </a:solidFill>
              </a:rPr>
              <a:t>Astrocytes adapt their transcriptomic identity to local brain microenvironments, far more than neurons.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892040"/>
            <a:ext cx="8229600" cy="292608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omega range: 16.0 - 121.8 = 7.6x span  |  CKI quantifies this gradient from scRNA-seq alone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120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4748B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Intra-region ω &lt; Inter-region ω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868680"/>
            <a:ext cx="7772400" cy="2926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3886200"/>
            <a:ext cx="2331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36576" bIns="18288"/>
          <a:lstStyle/>
          <a:p>
            <a:pPr algn="l"/>
            <a:r>
              <a:rPr sz="900" b="1">
                <a:solidFill>
                  <a:srgbClr val="0D9488"/>
                </a:solidFill>
              </a:rPr>
              <a:t>Intra-region ω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Same region, different cell types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Microenvironment limits ω divergence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Cortex: Astro(28), OPC(22), Neuron(18)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63239" y="3886200"/>
            <a:ext cx="23317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36576" bIns="18288"/>
          <a:lstStyle/>
          <a:p>
            <a:pPr algn="l"/>
            <a:r>
              <a:rPr sz="900" b="1">
                <a:solidFill>
                  <a:srgbClr val="DC2626"/>
                </a:solidFill>
              </a:rPr>
              <a:t>Inter-region ω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Same type, different brain regions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Distinct environments → higher ω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OPC: SVZ(3.2)→Hipp(18)→Cortex(22)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79" y="3886200"/>
            <a:ext cx="23317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36576" bIns="18288"/>
          <a:lstStyle/>
          <a:p>
            <a:pPr algn="l"/>
            <a:r>
              <a:rPr sz="900" b="1">
                <a:solidFill>
                  <a:srgbClr val="0F172A"/>
                </a:solidFill>
              </a:rPr>
              <a:t>Baseline Rule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Intra &lt; Inter across all regions</a:t>
            </a:r>
          </a:p>
          <a:p>
            <a:pPr algn="l">
              <a:spcBef>
                <a:spcPts val="100"/>
              </a:spcBef>
            </a:pPr>
            <a:r>
              <a:rPr sz="600">
                <a:solidFill>
                  <a:srgbClr val="1E293B"/>
                </a:solidFill>
              </a:rPr>
              <a:t>Cells differentiate LOCALLY, not by migration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 Case: OPC Breaks the Baseline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457200" y="3886200"/>
            <a:ext cx="374903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36576" bIns="18288"/>
          <a:lstStyle/>
          <a:p>
            <a:pPr algn="l"/>
            <a:r>
              <a:rPr sz="1000" b="1">
                <a:solidFill>
                  <a:srgbClr val="DC2626"/>
                </a:solidFill>
              </a:rPr>
              <a:t>OPC: Breaking the Baseline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23.5% OPC pairs show strong ω anomaly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ω(SVZ)=3.2, ω(Cortex)=22: Δω=18.8 (SMALL)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Intra-type similarity &gt; expected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OPCs known to migrate in development/injury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CKI discovers this without prior knowledge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3886200"/>
            <a:ext cx="374903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36576" bIns="18288"/>
          <a:lstStyle/>
          <a:p>
            <a:pPr algn="l"/>
            <a:r>
              <a:rPr sz="1000" b="1">
                <a:solidFill>
                  <a:srgbClr val="0D9488"/>
                </a:solidFill>
              </a:rPr>
              <a:t>Astrocytes: High ω, Low Migration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Highest baseline ω=121.8 (strong identity)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Only 14 migration candidates — very few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Inter-type Δω=105.8 (extremely LARGE)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High ω = local specialization, NOT migration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CKI distinguishes both signals independently</a:t>
            </a:r>
          </a:p>
        </p:txBody>
      </p:sp>
      <p:pic>
        <p:nvPicPr>
          <p:cNvPr id="8" name="Picture 7" descr="_s16_anomaly_v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868680"/>
            <a:ext cx="77724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Inference: From Anomaly to Hypothesis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Rectangle 5"/>
          <p:cNvSpPr/>
          <p:nvPr/>
        </p:nvSpPr>
        <p:spPr>
          <a:xfrm>
            <a:off x="457200" y="3886200"/>
            <a:ext cx="374903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36576" bIns="18288"/>
          <a:lstStyle/>
          <a:p>
            <a:pPr algn="l"/>
            <a:r>
              <a:rPr sz="1000" b="1">
                <a:solidFill>
                  <a:srgbClr val="2563EB"/>
                </a:solidFill>
              </a:rPr>
              <a:t>Omega Gradient Across Brain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Cortex Astrocytes: ω=121.8 (highest specificity)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Cerebellum Bergmann Glia: ω=85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Hipp/Thal/Striatum: ω=38-45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SVZ OPCs: ω=3.2 (least differentiated)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3886200"/>
            <a:ext cx="3749039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54864" tIns="36576" bIns="18288"/>
          <a:lstStyle/>
          <a:p>
            <a:pPr algn="l"/>
            <a:r>
              <a:rPr sz="1000" b="1">
                <a:solidFill>
                  <a:srgbClr val="DC2626"/>
                </a:solidFill>
              </a:rPr>
              <a:t>OPC Migration Hypothesis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Intra-type: OPC(SVZ) vs OPC(Cortex) → ω≈22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Inter-type: Astrocyte vs OPC(Cortex) → ω≈121.8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OPC cross-region similarity &gt; cross-type similarity</a:t>
            </a:r>
          </a:p>
          <a:p>
            <a:pPr algn="l">
              <a:spcBef>
                <a:spcPts val="100"/>
              </a:spcBef>
            </a:pPr>
            <a:r>
              <a:rPr sz="700">
                <a:solidFill>
                  <a:srgbClr val="1E293B"/>
                </a:solidFill>
              </a:rPr>
              <a:t>→ SVZ → Cortex OPC migration is best hypothesis</a:t>
            </a:r>
          </a:p>
        </p:txBody>
      </p:sp>
      <p:pic>
        <p:nvPicPr>
          <p:cNvPr id="8" name="Picture 7" descr="_s17_migration_v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868680"/>
            <a:ext cx="777240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Four Core Contributions of CKI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1931670" cy="347472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1097280"/>
            <a:ext cx="101727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Shape 5"/>
          <p:cNvSpPr/>
          <p:nvPr/>
        </p:nvSpPr>
        <p:spPr>
          <a:xfrm>
            <a:off x="1240155" y="123444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8" name="Text 6"/>
          <p:cNvSpPr/>
          <p:nvPr/>
        </p:nvSpPr>
        <p:spPr>
          <a:xfrm>
            <a:off x="1240155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1931670" cy="502920"/>
          </a:xfrm>
          <a:prstGeom prst="rect">
            <a:avLst>
              <a:gd name="adj" fmla="val 363636"/>
            </a:avLst>
          </a:prstGeom>
          <a:solidFill>
            <a:srgbClr val="EFF6FF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0" name="Text 8"/>
          <p:cNvSpPr/>
          <p:nvPr/>
        </p:nvSpPr>
        <p:spPr>
          <a:xfrm>
            <a:off x="612648" y="1847088"/>
            <a:ext cx="1712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Metric omega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468880"/>
            <a:ext cx="165735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Ka/Ks-inspired ratio that quantifies cell-state divergence on a continuous scale. omega = k_f/k_n distinguishes functional selection from transcriptional noise.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71750" y="1097280"/>
            <a:ext cx="1931670" cy="347472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3" name="Shape 11"/>
          <p:cNvSpPr/>
          <p:nvPr/>
        </p:nvSpPr>
        <p:spPr>
          <a:xfrm>
            <a:off x="3486150" y="1097280"/>
            <a:ext cx="101727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4" name="Shape 12"/>
          <p:cNvSpPr/>
          <p:nvPr/>
        </p:nvSpPr>
        <p:spPr>
          <a:xfrm>
            <a:off x="3308985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5" name="Text 13"/>
          <p:cNvSpPr/>
          <p:nvPr/>
        </p:nvSpPr>
        <p:spPr>
          <a:xfrm>
            <a:off x="3308985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571750" y="1828800"/>
            <a:ext cx="1931670" cy="502920"/>
          </a:xfrm>
          <a:prstGeom prst="rect">
            <a:avLst>
              <a:gd name="adj" fmla="val 363636"/>
            </a:avLst>
          </a:prstGeom>
          <a:solidFill>
            <a:srgbClr val="F0FDFA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Text 15"/>
          <p:cNvSpPr/>
          <p:nvPr/>
        </p:nvSpPr>
        <p:spPr>
          <a:xfrm>
            <a:off x="2681478" y="1847088"/>
            <a:ext cx="1712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Reference Strategy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08910" y="2468880"/>
            <a:ext cx="165735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Housekeeping genes serve as an internal calibration standard, analogous to synonymous mutations in molecular evolution. Auto-detected per dataset (detection rate + CV) — works for any species.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40580" y="1097280"/>
            <a:ext cx="1931670" cy="347472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0" name="Shape 18"/>
          <p:cNvSpPr/>
          <p:nvPr/>
        </p:nvSpPr>
        <p:spPr>
          <a:xfrm>
            <a:off x="5554980" y="1097280"/>
            <a:ext cx="101727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1" name="Shape 19"/>
          <p:cNvSpPr/>
          <p:nvPr/>
        </p:nvSpPr>
        <p:spPr>
          <a:xfrm>
            <a:off x="5377815" y="12344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Text 20"/>
          <p:cNvSpPr/>
          <p:nvPr/>
        </p:nvSpPr>
        <p:spPr>
          <a:xfrm>
            <a:off x="5377815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640580" y="1828800"/>
            <a:ext cx="1931670" cy="502920"/>
          </a:xfrm>
          <a:prstGeom prst="rect">
            <a:avLst>
              <a:gd name="adj" fmla="val 363636"/>
            </a:avLst>
          </a:prstGeom>
          <a:solidFill>
            <a:srgbClr val="FFFB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4" name="Text 22"/>
          <p:cNvSpPr/>
          <p:nvPr/>
        </p:nvSpPr>
        <p:spPr>
          <a:xfrm>
            <a:off x="4750308" y="1847088"/>
            <a:ext cx="1712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Multi-Scale Validation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7740" y="2468880"/>
            <a:ext cx="165735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across Tabula Muris, Tabula Sapiens, TCGA pan-cancer, and human brain atlas. 250K+ cells, cross-species, cross-organ, cross-disease.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09410" y="1097280"/>
            <a:ext cx="1931670" cy="3474720"/>
          </a:xfrm>
          <a:prstGeom prst="rect">
            <a:avLst>
              <a:gd name="adj" fmla="val 189349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7" name="Shape 25"/>
          <p:cNvSpPr/>
          <p:nvPr/>
        </p:nvSpPr>
        <p:spPr>
          <a:xfrm>
            <a:off x="7623810" y="1097280"/>
            <a:ext cx="101727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8" name="Shape 26"/>
          <p:cNvSpPr/>
          <p:nvPr/>
        </p:nvSpPr>
        <p:spPr>
          <a:xfrm>
            <a:off x="7446645" y="123444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9" name="Text 27"/>
          <p:cNvSpPr/>
          <p:nvPr/>
        </p:nvSpPr>
        <p:spPr>
          <a:xfrm>
            <a:off x="7446645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709410" y="1828800"/>
            <a:ext cx="1931670" cy="502920"/>
          </a:xfrm>
          <a:prstGeom prst="rect">
            <a:avLst>
              <a:gd name="adj" fmla="val 363636"/>
            </a:avLst>
          </a:prstGeom>
          <a:solidFill>
            <a:srgbClr val="FEF2F2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1" name="Text 29"/>
          <p:cNvSpPr/>
          <p:nvPr/>
        </p:nvSpPr>
        <p:spPr>
          <a:xfrm>
            <a:off x="6819138" y="1847088"/>
            <a:ext cx="17122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Applications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46570" y="2468880"/>
            <a:ext cx="165735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Discovered cancer NN/TT paradox, 8-fold brain omega gradient, and a migration inference framework. Generated testable hypotheses about cell migration.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502920" y="10972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Directions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412480" y="48280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005840"/>
            <a:ext cx="2621280" cy="1600200"/>
          </a:xfrm>
          <a:prstGeom prst="rect">
            <a:avLst>
              <a:gd name="adj" fmla="val 22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6" name="Shape 4"/>
          <p:cNvSpPr/>
          <p:nvPr/>
        </p:nvSpPr>
        <p:spPr>
          <a:xfrm>
            <a:off x="1417320" y="1005840"/>
            <a:ext cx="170688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⊙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1115568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Transcriptomics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50876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CKI to spatial data to map omega gradients in tissue context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1360" y="1005840"/>
            <a:ext cx="2621280" cy="1600200"/>
          </a:xfrm>
          <a:prstGeom prst="rect">
            <a:avLst>
              <a:gd name="adj" fmla="val 22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1" name="Shape 9"/>
          <p:cNvSpPr/>
          <p:nvPr/>
        </p:nvSpPr>
        <p:spPr>
          <a:xfrm>
            <a:off x="4175760" y="1005840"/>
            <a:ext cx="17068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2" name="Text 10"/>
          <p:cNvSpPr/>
          <p:nvPr/>
        </p:nvSpPr>
        <p:spPr>
          <a:xfrm>
            <a:off x="339852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⧉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10000" y="1115568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Epigenomic Extension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98520" y="150876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framework to ATAC-seq, methylation, and chromatin accessibility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19800" y="1005840"/>
            <a:ext cx="2621280" cy="1600200"/>
          </a:xfrm>
          <a:prstGeom prst="rect">
            <a:avLst>
              <a:gd name="adj" fmla="val 22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6" name="Shape 14"/>
          <p:cNvSpPr/>
          <p:nvPr/>
        </p:nvSpPr>
        <p:spPr>
          <a:xfrm>
            <a:off x="6934200" y="1005840"/>
            <a:ext cx="170688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17" name="Text 15"/>
          <p:cNvSpPr/>
          <p:nvPr/>
        </p:nvSpPr>
        <p:spPr>
          <a:xfrm>
            <a:off x="6156960" y="1097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68440" y="1115568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Prognosis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56960" y="150876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omega as a prognostic biomarker in cancer and disease progression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2743200"/>
            <a:ext cx="2621280" cy="1600200"/>
          </a:xfrm>
          <a:prstGeom prst="rect">
            <a:avLst>
              <a:gd name="adj" fmla="val 22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1" name="Shape 19"/>
          <p:cNvSpPr/>
          <p:nvPr/>
        </p:nvSpPr>
        <p:spPr>
          <a:xfrm>
            <a:off x="1417320" y="2743200"/>
            <a:ext cx="170688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2" name="Text 20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△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1560" y="2852928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Developmental Biology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24612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omega dynamics during embryogenesis and organ development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1360" y="2743200"/>
            <a:ext cx="2621280" cy="1600200"/>
          </a:xfrm>
          <a:prstGeom prst="rect">
            <a:avLst>
              <a:gd name="adj" fmla="val 22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6" name="Shape 24"/>
          <p:cNvSpPr/>
          <p:nvPr/>
        </p:nvSpPr>
        <p:spPr>
          <a:xfrm>
            <a:off x="4175760" y="2743200"/>
            <a:ext cx="170688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27" name="Text 25"/>
          <p:cNvSpPr/>
          <p:nvPr/>
        </p:nvSpPr>
        <p:spPr>
          <a:xfrm>
            <a:off x="33985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⊎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810000" y="2852928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Multi-Omics Integration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98520" y="324612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 transcriptomic omega with proteomic and metabolomic layers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19800" y="2743200"/>
            <a:ext cx="2621280" cy="1600200"/>
          </a:xfrm>
          <a:prstGeom prst="rect">
            <a:avLst>
              <a:gd name="adj" fmla="val 228571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1" name="Shape 29"/>
          <p:cNvSpPr/>
          <p:nvPr/>
        </p:nvSpPr>
        <p:spPr>
          <a:xfrm>
            <a:off x="6934200" y="2743200"/>
            <a:ext cx="170688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2" name="Text 30"/>
          <p:cNvSpPr/>
          <p:nvPr/>
        </p:nvSpPr>
        <p:spPr>
          <a:xfrm>
            <a:off x="615696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2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⌂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568440" y="2852928"/>
            <a:ext cx="188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  <a:lnSpc>
                <a:spcPct val="150000"/>
              </a:lnSpc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Tool &amp; Database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56960" y="3246120"/>
            <a:ext cx="234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  <a:lnSpc>
                <a:spcPct val="150000"/>
              </a:lnSpc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server for CKI computation with pre-computed reference maps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91440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Zhang</a:t>
            </a:r>
            <a:endParaRPr lang="en-US" sz="1200" dirty="0"/>
          </a:p>
          <a:p>
            <a:pPr algn="ctr" indent="0" marL="0">
              <a:buNone/>
              <a:lnSpc>
                <a:spcPct val="150000"/>
              </a:lnSpc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knightz@pumc.edu.cn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  <a:lnSpc>
                <a:spcPct val="150000"/>
              </a:lnSpc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CKI code &amp; data available at: github.com/zhanglknt/CKI-cell-type-identification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4114800"/>
            <a:ext cx="2743200" cy="1828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>
            <a:pPr>
              <a:lnSpc>
                <a:spcPct val="1500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CKI: Cell-state Kinetic Index</dc:title>
  <dc:subject>PptxGenJS Presentation</dc:subject>
  <dc:creator>Li Zhang</dc:creator>
  <cp:lastModifiedBy>Li Zhang</cp:lastModifiedBy>
  <cp:revision>1</cp:revision>
  <dcterms:created xsi:type="dcterms:W3CDTF">2026-05-24T07:50:26Z</dcterms:created>
  <dcterms:modified xsi:type="dcterms:W3CDTF">2026-05-24T07:50:26Z</dcterms:modified>
</cp:coreProperties>
</file>